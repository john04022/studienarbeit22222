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446" autoAdjust="0"/>
  </p:normalViewPr>
  <p:slideViewPr>
    <p:cSldViewPr snapToGrid="0">
      <p:cViewPr varScale="1">
        <p:scale>
          <a:sx n="59" d="100"/>
          <a:sy n="59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OracleDB</c:v>
          </c:tx>
          <c:spPr>
            <a:solidFill>
              <a:srgbClr val="C7463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Insert</c:v>
              </c:pt>
            </c:strLit>
          </c:cat>
          <c:val>
            <c:numLit>
              <c:formatCode>0.00</c:formatCode>
              <c:ptCount val="1"/>
              <c:pt idx="0">
                <c:v>788.87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F9-479E-85EC-2B3A8FD0E7B5}"/>
            </c:ext>
          </c:extLst>
        </c:ser>
        <c:ser>
          <c:idx val="1"/>
          <c:order val="1"/>
          <c:tx>
            <c:v>MongoDB</c:v>
          </c:tx>
          <c:spPr>
            <a:solidFill>
              <a:srgbClr val="00A35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Insert</c:v>
              </c:pt>
            </c:strLit>
          </c:cat>
          <c:val>
            <c:numLit>
              <c:formatCode>0.00</c:formatCode>
              <c:ptCount val="1"/>
              <c:pt idx="0">
                <c:v>71.400000000000006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FF9-479E-85EC-2B3A8FD0E7B5}"/>
            </c:ext>
          </c:extLst>
        </c:ser>
        <c:ser>
          <c:idx val="2"/>
          <c:order val="2"/>
          <c:tx>
            <c:v>MySQL</c:v>
          </c:tx>
          <c:spPr>
            <a:solidFill>
              <a:srgbClr val="00758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Insert</c:v>
              </c:pt>
            </c:strLit>
          </c:cat>
          <c:val>
            <c:numLit>
              <c:formatCode>0.00</c:formatCode>
              <c:ptCount val="1"/>
              <c:pt idx="0">
                <c:v>240.01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FF9-479E-85EC-2B3A8FD0E7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de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de-DE" sz="1050">
                    <a:solidFill>
                      <a:srgbClr val="50545B"/>
                    </a:solidFill>
                  </a:rPr>
                  <a:t>Durchschnitt in ms</a:t>
                </a:r>
              </a:p>
            </c:rich>
          </c:tx>
          <c:overlay val="1"/>
        </c:title>
        <c:numFmt formatCode="0.0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0545B"/>
                </a:solidFill>
              </a:defRPr>
            </a:pPr>
            <a:endParaRPr lang="de-DE"/>
          </a:p>
        </c:txPr>
        <c:crossAx val="48650112"/>
        <c:crosses val="autoZero"/>
        <c:crossBetween val="between"/>
        <c:majorUnit val="15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125">
              <a:solidFill>
                <a:srgbClr val="000000"/>
              </a:solidFill>
            </a:defRPr>
          </a:pPr>
          <a:endParaRPr lang="de-DE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OracleDB</c:v>
          </c:tx>
          <c:spPr>
            <a:solidFill>
              <a:srgbClr val="C7463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Top-Level</c:v>
              </c:pt>
              <c:pt idx="1">
                <c:v>Verschachtelt</c:v>
              </c:pt>
              <c:pt idx="2">
                <c:v>Array</c:v>
              </c:pt>
              <c:pt idx="3">
                <c:v>Update</c:v>
              </c:pt>
            </c:strLit>
          </c:cat>
          <c:val>
            <c:numLit>
              <c:formatCode>0.00</c:formatCode>
              <c:ptCount val="4"/>
              <c:pt idx="0">
                <c:v>3.62</c:v>
              </c:pt>
              <c:pt idx="1">
                <c:v>3.75</c:v>
              </c:pt>
              <c:pt idx="2">
                <c:v>9.07</c:v>
              </c:pt>
              <c:pt idx="3">
                <c:v>13.7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A32-468F-9C17-1BDDDBC414CF}"/>
            </c:ext>
          </c:extLst>
        </c:ser>
        <c:ser>
          <c:idx val="1"/>
          <c:order val="1"/>
          <c:tx>
            <c:v>MongoDB</c:v>
          </c:tx>
          <c:spPr>
            <a:solidFill>
              <a:srgbClr val="00A35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Top-Level</c:v>
              </c:pt>
              <c:pt idx="1">
                <c:v>Verschachtelt</c:v>
              </c:pt>
              <c:pt idx="2">
                <c:v>Array</c:v>
              </c:pt>
              <c:pt idx="3">
                <c:v>Update</c:v>
              </c:pt>
            </c:strLit>
          </c:cat>
          <c:val>
            <c:numLit>
              <c:formatCode>0.00</c:formatCode>
              <c:ptCount val="4"/>
              <c:pt idx="0">
                <c:v>2.12</c:v>
              </c:pt>
              <c:pt idx="1">
                <c:v>2.35</c:v>
              </c:pt>
              <c:pt idx="2">
                <c:v>2.79</c:v>
              </c:pt>
              <c:pt idx="3">
                <c:v>0.79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A32-468F-9C17-1BDDDBC414CF}"/>
            </c:ext>
          </c:extLst>
        </c:ser>
        <c:ser>
          <c:idx val="2"/>
          <c:order val="2"/>
          <c:tx>
            <c:v>MySQL</c:v>
          </c:tx>
          <c:spPr>
            <a:solidFill>
              <a:srgbClr val="00758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Top-Level</c:v>
              </c:pt>
              <c:pt idx="1">
                <c:v>Verschachtelt</c:v>
              </c:pt>
              <c:pt idx="2">
                <c:v>Array</c:v>
              </c:pt>
              <c:pt idx="3">
                <c:v>Update</c:v>
              </c:pt>
            </c:strLit>
          </c:cat>
          <c:val>
            <c:numLit>
              <c:formatCode>0.00</c:formatCode>
              <c:ptCount val="4"/>
              <c:pt idx="0">
                <c:v>2.91</c:v>
              </c:pt>
              <c:pt idx="1">
                <c:v>3.12</c:v>
              </c:pt>
              <c:pt idx="2">
                <c:v>20.63</c:v>
              </c:pt>
              <c:pt idx="3">
                <c:v>11.72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A32-468F-9C17-1BDDDBC414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de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de-DE" sz="1050">
                    <a:solidFill>
                      <a:srgbClr val="50545B"/>
                    </a:solidFill>
                  </a:rPr>
                  <a:t>Durchschnitt in ms</a:t>
                </a:r>
              </a:p>
            </c:rich>
          </c:tx>
          <c:overlay val="1"/>
        </c:title>
        <c:numFmt formatCode="0.0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0545B"/>
                </a:solidFill>
              </a:defRPr>
            </a:pPr>
            <a:endParaRPr lang="de-DE"/>
          </a:p>
        </c:txPr>
        <c:crossAx val="48650112"/>
        <c:crosses val="autoZero"/>
        <c:crossBetween val="between"/>
        <c:majorUnit val="4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125">
              <a:solidFill>
                <a:srgbClr val="000000"/>
              </a:solidFill>
            </a:defRPr>
          </a:pPr>
          <a:endParaRPr lang="de-DE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OracleDB</c:v>
          </c:tx>
          <c:spPr>
            <a:solidFill>
              <a:srgbClr val="C7463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Insert</c:v>
              </c:pt>
              <c:pt idx="1">
                <c:v>Top-Level</c:v>
              </c:pt>
              <c:pt idx="2">
                <c:v>Versch.</c:v>
              </c:pt>
              <c:pt idx="3">
                <c:v>Array</c:v>
              </c:pt>
              <c:pt idx="4">
                <c:v>Update</c:v>
              </c:pt>
            </c:strLit>
          </c:cat>
          <c:val>
            <c:numLit>
              <c:formatCode>0.0"%"</c:formatCode>
              <c:ptCount val="5"/>
              <c:pt idx="0">
                <c:v>57.3</c:v>
              </c:pt>
              <c:pt idx="1">
                <c:v>-87.3</c:v>
              </c:pt>
              <c:pt idx="2">
                <c:v>-91.7</c:v>
              </c:pt>
              <c:pt idx="3">
                <c:v>3</c:v>
              </c:pt>
              <c:pt idx="4">
                <c:v>-60.7</c:v>
              </c:pt>
            </c:numLit>
          </c:val>
          <c:extLst>
            <c:ext xmlns:c16="http://schemas.microsoft.com/office/drawing/2014/chart" uri="{C3380CC4-5D6E-409C-BE32-E72D297353CC}">
              <c16:uniqueId val="{00000000-BDCF-4C0E-911D-55CC6570F3F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</a:defRPr>
            </a:pPr>
            <a:endParaRPr lang="de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0"/>
          <c:min val="-10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0.0&quot;%&quot;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0545B"/>
                </a:solidFill>
              </a:defRPr>
            </a:pPr>
            <a:endParaRPr lang="de-DE"/>
          </a:p>
        </c:txPr>
        <c:crossAx val="48650112"/>
        <c:crosses val="autoZero"/>
        <c:crossBetween val="between"/>
        <c:majorUnit val="4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MongoDB</c:v>
          </c:tx>
          <c:spPr>
            <a:solidFill>
              <a:srgbClr val="00A35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Insert</c:v>
              </c:pt>
              <c:pt idx="1">
                <c:v>Top-Level</c:v>
              </c:pt>
              <c:pt idx="2">
                <c:v>Versch.</c:v>
              </c:pt>
              <c:pt idx="3">
                <c:v>Array</c:v>
              </c:pt>
              <c:pt idx="4">
                <c:v>Update</c:v>
              </c:pt>
            </c:strLit>
          </c:cat>
          <c:val>
            <c:numLit>
              <c:formatCode>0.0"%"</c:formatCode>
              <c:ptCount val="5"/>
              <c:pt idx="0">
                <c:v>108.4</c:v>
              </c:pt>
              <c:pt idx="1">
                <c:v>-50.5</c:v>
              </c:pt>
              <c:pt idx="2">
                <c:v>-72.3</c:v>
              </c:pt>
              <c:pt idx="3">
                <c:v>-42.7</c:v>
              </c:pt>
              <c:pt idx="4">
                <c:v>5.0999999999999996</c:v>
              </c:pt>
            </c:numLit>
          </c:val>
          <c:extLst>
            <c:ext xmlns:c16="http://schemas.microsoft.com/office/drawing/2014/chart" uri="{C3380CC4-5D6E-409C-BE32-E72D297353CC}">
              <c16:uniqueId val="{00000000-26D0-46AF-BA49-2672D9CBE3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</a:defRPr>
            </a:pPr>
            <a:endParaRPr lang="de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0"/>
          <c:min val="-10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0.0&quot;%&quot;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0545B"/>
                </a:solidFill>
              </a:defRPr>
            </a:pPr>
            <a:endParaRPr lang="de-DE"/>
          </a:p>
        </c:txPr>
        <c:crossAx val="48650112"/>
        <c:crosses val="autoZero"/>
        <c:crossBetween val="between"/>
        <c:majorUnit val="4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MySQL</c:v>
          </c:tx>
          <c:spPr>
            <a:solidFill>
              <a:srgbClr val="00758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0000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Insert</c:v>
              </c:pt>
              <c:pt idx="1">
                <c:v>Top-Level</c:v>
              </c:pt>
              <c:pt idx="2">
                <c:v>Versch.</c:v>
              </c:pt>
              <c:pt idx="3">
                <c:v>Array</c:v>
              </c:pt>
              <c:pt idx="4">
                <c:v>Update</c:v>
              </c:pt>
            </c:strLit>
          </c:cat>
          <c:val>
            <c:numLit>
              <c:formatCode>0.0"%"</c:formatCode>
              <c:ptCount val="5"/>
              <c:pt idx="0">
                <c:v>20.9</c:v>
              </c:pt>
              <c:pt idx="1">
                <c:v>-66.3</c:v>
              </c:pt>
              <c:pt idx="2">
                <c:v>-84.3</c:v>
              </c:pt>
              <c:pt idx="3">
                <c:v>-0.5</c:v>
              </c:pt>
              <c:pt idx="4">
                <c:v>-48.5</c:v>
              </c:pt>
            </c:numLit>
          </c:val>
          <c:extLst>
            <c:ext xmlns:c16="http://schemas.microsoft.com/office/drawing/2014/chart" uri="{C3380CC4-5D6E-409C-BE32-E72D297353CC}">
              <c16:uniqueId val="{00000000-E968-442D-B07F-950D0F057F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</a:defRPr>
            </a:pPr>
            <a:endParaRPr lang="de-D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0"/>
          <c:min val="-10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0.0&quot;%&quot;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0545B"/>
                </a:solidFill>
              </a:defRPr>
            </a:pPr>
            <a:endParaRPr lang="de-DE"/>
          </a:p>
        </c:txPr>
        <c:crossAx val="48650112"/>
        <c:crosses val="autoZero"/>
        <c:crossBetween val="between"/>
        <c:majorUnit val="4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30 Sekunden.</a:t>
            </a:r>
          </a:p>
          <a:p>
            <a:r>
              <a:t>Begrüßung und Thema nennen. Nicht mit der Historie von JSON beginnen, sondern direkt auf die Leitfrage überleiten.</a:t>
            </a:r>
          </a:p>
          <a:p>
            <a:r>
              <a:t>Formulierung: Ich untersuche heute nicht nur, ob drei Datenbanken JSON können, sondern wie unterschiedlich JSON in ihnen technisch eingebettet ist und was das für typische Operationen bedeutet.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Minute.</a:t>
            </a:r>
          </a:p>
          <a:p>
            <a:r>
              <a:t>Die drei Saetze links sind die Ausgangssituation. Danach die Problemstellung im blauen Feld woertlich oder sinngemaess nennen.</a:t>
            </a:r>
          </a:p>
          <a:p>
            <a:r>
              <a:t>Wichtig: Das Problem ist nicht die gültige JSON-Syntax, sondern die unterschiedliche Einbettung in das jeweilige Datenbanksystem.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50 Sekunden.</a:t>
            </a:r>
          </a:p>
          <a:p>
            <a:r>
              <a:t>Die Arbeit hat drei Ebenen: Technik verstehen, Funktionen vergleichen, Verhalten messen.</a:t>
            </a:r>
          </a:p>
          <a:p>
            <a:r>
              <a:t>Die Abgrenzung bewusst betonen: Der Benchmark liefert Hinweise für genau diese Testbedingungen. Er beweist nicht, dass ein System generell schneller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Minute.</a:t>
            </a:r>
          </a:p>
          <a:p>
            <a:r>
              <a:t>Den Aufbau als logische Kette erklaeren: Erst brauche ich gemeinsame Begriffe, dann untersuche ich jedes System, anschliessend teste ich dieselben Operationen und erst danach ziehe ich Schlussfolgerungen.</a:t>
            </a:r>
          </a:p>
          <a:p>
            <a:r>
              <a:t>Nicht in die Grundlagenkapitel abtauchen. Diese Folie dient nur als Orientierung für den roten Faden.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 30 Sekunden.</a:t>
            </a:r>
          </a:p>
          <a:p>
            <a:r>
              <a:t>Oracle: Native JSON-Spalte in einer relationalen Tabelle; intern OSON. Legacy-Varianten über VARCHAR2, CLOB oder BLOB sind möglich, im Benchmark wird aber der native JSON-Typ verwendet.</a:t>
            </a:r>
          </a:p>
          <a:p>
            <a:r>
              <a:t>MongoDB: Das Dokument selbst ist die Grundeinheit und wird als BSON gespeichert. BSON ist eine binäre Dokumentrepräsentation und bietet weitere Datentypen; es ist nicht automatisch immer kleiner als Text-JSON.</a:t>
            </a:r>
          </a:p>
          <a:p>
            <a:r>
              <a:t>MySQL: Ebenfalls eine relationale Tabelle mit nativer JSON-Spalte. MySQL validiert und speichert in einem eigenen binären Format, damit Werte strukturiert adressierbar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Minute.</a:t>
            </a:r>
          </a:p>
          <a:p>
            <a:r>
              <a:t>Die Tabelle nicht vollstaendig vorlesen. Je System einen Unterschied nennen: Oracle kombiniert SQL und Enterprise-Funktionen, MongoDB ist dokumentenzentriert, MySQL erweitert ein vertrautes relationales Modell pragmatisch um JSON.</a:t>
            </a:r>
          </a:p>
          <a:p>
            <a:r>
              <a:t>Kerngedanke: Funktionslisten allein beantworten die Systemwahl nicht. Entscheidend ist, ob das Dokument Kernmodell oder flexible Ergaenzung relationaler Daten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 20 Sekunden.</a:t>
            </a:r>
          </a:p>
          <a:p>
            <a:r>
              <a:t>Begriffe sauber trennen: Single-Field beschreibt bei MongoDB, dass genau ein Feldpfad indexiert wird. B-Tree beschreibt die Datenstruktur. Ein MongoDB-Single-Field-Index ist also kein Gegenmodell zum B-Tree.</a:t>
            </a:r>
          </a:p>
          <a:p>
            <a:r>
              <a:t>MySQL braucht im Benchmark gespeicherte generierte Spalten, weil die extrahierten JSON-Skalarwerte dann wie normale Spalten mit sekundaeren B-Trees indexiert werden.</a:t>
            </a:r>
          </a:p>
          <a:p>
            <a:r>
              <a:t>Oracle speichert direkt das Ergebnis der JSON_VALUE-Funktion im funktionsbasierten B-Tree. MongoDB erzeugt beim Array-Pfad mehrere Indexeintraege je Dokument, also einen Multikey-Index.</a:t>
            </a:r>
          </a:p>
          <a:p>
            <a:r>
              <a:t>Fairnesshinweis: Für status, land und bestellnummer ist die Funktion vergleichbar. Beim Array nicht, weil MySQL und Oracle im Skript keinen entsprechenden Array-Index erhalten.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 20 Sekunden.</a:t>
            </a:r>
          </a:p>
          <a:p>
            <a:r>
              <a:t>Das Bestelldokument enthaelt Top-Level-Felder, ein verschachteltes Kundenobjekt und ein Array mit Positionen. Dadurch lassen sich unterschiedliche JSON-Zugriffsmuster testen.</a:t>
            </a:r>
          </a:p>
          <a:p>
            <a:r>
              <a:t>Pro Operation: zwei Warm-ups werden ausgeführt, aber nicht ausgewertet. Danach folgen zehn Messläufe mit time.perf_counter. Gespeichert werden Mittelwert, Median, Minimum und Maximum.</a:t>
            </a:r>
          </a:p>
          <a:p>
            <a:r>
              <a:t>Testumgebung: Docker unter WSL2, MySQL 8.4, MongoDB 8.0 und Oracle Free 23, angesprochen aus Python. Die Operationen laufen sequenziell und ohne Parallelität.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 20 Sekunden.</a:t>
            </a:r>
          </a:p>
          <a:p>
            <a:r>
              <a:t>Die Folie enthält alle fünf Operationen ohne zusätzliche JSON-Pfadindizes.</a:t>
            </a:r>
          </a:p>
          <a:p>
            <a:r>
              <a:t>Insert steht wegen der deutlich größeren Laufzeiten in einem eigenen Diagramm. Dadurch bleiben die vier übrigen Operationen lesbar.</a:t>
            </a:r>
          </a:p>
          <a:p>
            <a:r>
              <a:t>In dieser Testumgebung erreicht MongoDB bei jeder betrachteten Operation die niedrigste durchschnittliche Laufzeit.</a:t>
            </a:r>
          </a:p>
          <a:p>
            <a:r>
              <a:t>Die Aussage ausdrücklich auf den gewählten Microbenchmark begrenzen und nicht als allgemeine Hersteller-Rangliste formulieren.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 30 Sekunden.</a:t>
            </a:r>
          </a:p>
          <a:p>
            <a:r>
              <a:t>Berechnung: (Laufzeit mit Basic-Index minus Laufzeit ohne Zusatzindex) geteilt durch Laufzeit ohne Zusatzindex mal 100.</a:t>
            </a:r>
          </a:p>
          <a:p>
            <a:r>
              <a:t>Negative Werte bedeuten eine kürzere Laufzeit, positive Werte eine längere Laufzeit nach der Indexierung.</a:t>
            </a:r>
          </a:p>
          <a:p>
            <a:r>
              <a:t>Skalare Selektionen werden in allen Systemen deutlich schneller. OracleDB verbessert die verschachtelte Selektion um rund 91,7 Prozent, MySQL um rund 84,3 Prozent und MongoDB um rund 72,3 Prozent.</a:t>
            </a:r>
          </a:p>
          <a:p>
            <a:r>
              <a:t>Array: Nur MongoDB besitzt im Benchmark einen Multikey-Index. Deshalb verbessert sich dort die Array-Selektion, während OracleDB und MySQL nahezu unverändert bleiben.</a:t>
            </a:r>
          </a:p>
          <a:p>
            <a:r>
              <a:t>Insert: Indexpflege erhöht den Aufwand. Der MongoDB-Wert ist methodisch nur eingeschränkt vergleichbar, weil das Skript dabei zusätzlich die vier Indizes neu anlegt.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Minute.</a:t>
            </a:r>
          </a:p>
          <a:p>
            <a:r>
              <a:t>Hier die Messwerte in eine Architekturentscheidung übersetzen.</a:t>
            </a:r>
          </a:p>
          <a:p>
            <a:r>
              <a:t>MongoDB passt zu dokumentenzentrierten Anwendungen. Oracle passt zu stark relationalen Enterprise-Szenarien mit hybriden JSON-Anforderungen. MySQL ist eine pragmatische Wahl, wenn ein vorhandenes relationales Modell gezielt flexible JSON-Bereiche braucht.</a:t>
            </a:r>
          </a:p>
          <a:p>
            <a:r>
              <a:t>Das ist die eigentliche Antwort der Arbeit: nicht ein pauschaler Sieger, sondern unterschiedliche Stärken je Modell und Zugriffsmuster.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3 bis 5 Minuten inklusive Wechsel ins Terminal.</a:t>
            </a:r>
          </a:p>
          <a:p>
            <a:r>
              <a:t>Vor der Präsentation: Docker-Container starten, Datenbankverbindungen testen, logs-Verzeichnis anlegen und Terminalschrift vergrößern.</a:t>
            </a:r>
          </a:p>
          <a:p>
            <a:r>
              <a:t>Beim Start den Befehl kurz zerlegen: rows ist die Dokumentzahl, runs sind die gewerteten Läufe, warmups werden verworfen, index-mode basic aktiviert die zusätzlichen Pfadindizes.</a:t>
            </a:r>
          </a:p>
          <a:p>
            <a:r>
              <a:t>Während der Ausgabe nicht jede Zahl kommentieren. Auf System, Operation, Warm-up und Laufnummer zeigen. Am Ende CSV- und Diagrammpfad zeigen.</a:t>
            </a:r>
          </a:p>
          <a:p>
            <a:r>
              <a:t>Rückfall bei Demo-Fehler: Der Aufbau und die gespeicherten Resultate bleiben auf den nächsten Folien nachvollziehbar. Kurz sagen: Die Live-Ausführung ist die Reproduktion, die Auswertung basiert auf den dokumentierten zehn Messläufen.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50 Sekunden.</a:t>
            </a:r>
          </a:p>
          <a:p>
            <a:r>
              <a:t>Diese Folie ist fachlich wichtig, weil sie zeigt, dass die Ergebnisse kritisch eingeordnet werden.</a:t>
            </a:r>
          </a:p>
          <a:p>
            <a:r>
              <a:t>Vier Grenzen knapp nennen. Besonders die unterschiedliche Insert-Messung und die fehlenden Ausführungsplaene sind mögliche Rückfragen.</a:t>
            </a:r>
          </a:p>
          <a:p>
            <a:r>
              <a:t>Nicht die eigene Arbeit kleinreden. Formulierung: Der Benchmark beantwortet eine eng definierte Frage reproduzierbar; für eine allgemeine Produktempfehlung wären weitere Versuche notwendig.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Zielzeit: etwa 1 Minute 20 Sekunden.</a:t>
            </a:r>
          </a:p>
          <a:p>
            <a:r>
              <a:t>Den ersten Satz bewusst stehen lassen: JSON ersetzt das relationale Modell nicht, sondern erweitert die Modellierungsmöglichkeiten.</a:t>
            </a:r>
          </a:p>
          <a:p>
            <a:r>
              <a:t>Dann drei Ergebnisse verbinden: MongoDB ist dokumentenzentriert und im konkreten unindexierten Test vorne; Oracle und MySQL profitieren stark von gezielter Indexierung; die Wahl folgt dem Datenmodell und den Zugriffen.</a:t>
            </a:r>
          </a:p>
          <a:p>
            <a:r>
              <a:t>Ausblick: Ausführungsplaene nachweisen, Indexaufbau und Insert getrennt messen, verschiedene Datenmengen und parallele Clients testen.</a:t>
            </a:r>
          </a:p>
          <a:p>
            <a:r>
              <a:t>Mit Fragen öffnen. Keine neue technische Aussage mehr einführen.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Backupfolie, nicht im regulaeren Zeitplan.</a:t>
            </a:r>
          </a:p>
          <a:p>
            <a:r>
              <a:t>Bei Rückfragen zur exakten Implementierung zeigen. Darauf hinweisen, dass alle zusätzlichen Indexe nicht eindeutig sind. bestellnummer ist in den Testdaten faktisch eindeutig, wurde aber nicht als UNIQUE deklariert.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Backupfolie, nicht im regulaeren Zeitplan.</a:t>
            </a:r>
          </a:p>
          <a:p>
            <a:r>
              <a:t>Bei Detailfragen zu einzelnen Zahlen zeigen. Für Streuung zusätzlich Median, Minimum und Maximum aus dem Bericht nennen; der Oracle-Update-Mittelwert im indexierten Lauf wird beispielsweise von einem Ausreißer beeinflusst.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kicker">
            <a:extLst>
              <a:ext uri="{FF2B5EF4-FFF2-40B4-BE49-F238E27FC236}">
                <a16:creationId xmlns:a16="http://schemas.microsoft.com/office/drawing/2014/main" id="{A71F56A9-0332-4AE2-BD9E-CC7444FE7A82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00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STUDIENARBEIT · T3100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341625DE-A432-4246-BD25-90583ECA6189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8286750" cy="21907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6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JSON in der
Datenbank</a:t>
            </a:r>
          </a:p>
        </p:txBody>
      </p:sp>
      <p:sp>
        <p:nvSpPr>
          <p:cNvPr id="3" name="cover-mark">
            <a:extLst>
              <a:ext uri="{FF2B5EF4-FFF2-40B4-BE49-F238E27FC236}">
                <a16:creationId xmlns:a16="http://schemas.microsoft.com/office/drawing/2014/main" id="{1BAE1A12-B605-406B-87B0-2DBD79B538CC}"/>
              </a:ext>
            </a:extLst>
          </p:cNvPr>
          <p:cNvSpPr>
            <a:spLocks noGrp="1"/>
          </p:cNvSpPr>
          <p:nvPr/>
        </p:nvSpPr>
        <p:spPr>
          <a:xfrm>
            <a:off x="8858250" y="1695450"/>
            <a:ext cx="2381250" cy="20955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cover-json-mark">
            <a:extLst>
              <a:ext uri="{FF2B5EF4-FFF2-40B4-BE49-F238E27FC236}">
                <a16:creationId xmlns:a16="http://schemas.microsoft.com/office/drawing/2014/main" id="{F1CDBAA5-19B0-46E1-A80A-D0B5640CCED0}"/>
              </a:ext>
            </a:extLst>
          </p:cNvPr>
          <p:cNvSpPr>
            <a:spLocks noGrp="1"/>
          </p:cNvSpPr>
          <p:nvPr/>
        </p:nvSpPr>
        <p:spPr>
          <a:xfrm>
            <a:off x="9048750" y="1828800"/>
            <a:ext cx="2000250" cy="16192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{  }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DC2DE7EE-04C3-426D-AA08-39F475BA3F79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72390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OracleDB, MongoDB und MySQL
im funktionalen und praktischen Vergleich</a:t>
            </a:r>
          </a:p>
        </p:txBody>
      </p:sp>
      <p:sp>
        <p:nvSpPr>
          <p:cNvPr id="6" name="cover-author">
            <a:extLst>
              <a:ext uri="{FF2B5EF4-FFF2-40B4-BE49-F238E27FC236}">
                <a16:creationId xmlns:a16="http://schemas.microsoft.com/office/drawing/2014/main" id="{4AF0AE92-EF82-4E9A-9D8A-59AD69E835A5}"/>
              </a:ext>
            </a:extLst>
          </p:cNvPr>
          <p:cNvSpPr>
            <a:spLocks noGrp="1"/>
          </p:cNvSpPr>
          <p:nvPr/>
        </p:nvSpPr>
        <p:spPr>
          <a:xfrm>
            <a:off x="400050" y="5886450"/>
            <a:ext cx="7620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Jonathan Kalmbach · Informatik · DHBW Horb</a:t>
            </a:r>
          </a:p>
        </p:txBody>
      </p:sp>
    </p:spTree>
    <p:extLst>
      <p:ext uri="{BB962C8B-B14F-4D97-AF65-F5344CB8AC3E}">
        <p14:creationId xmlns:p14="http://schemas.microsoft.com/office/powerpoint/2010/main" val="123167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2">
            <a:extLst>
              <a:ext uri="{FF2B5EF4-FFF2-40B4-BE49-F238E27FC236}">
                <a16:creationId xmlns:a16="http://schemas.microsoft.com/office/drawing/2014/main" id="{F84D7814-7D4D-49AC-A267-5AA70E9548C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5391150" cy="704850"/>
          </a:xfrm>
          <a:prstGeom prst="rect">
            <a:avLst/>
          </a:prstGeom>
        </p:spPr>
        <p:txBody>
          <a:bodyPr wrap="square" lIns="0" tIns="0" rIns="0" bIns="0" anchor="t">
            <a:normAutofit fontScale="99497"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AUFGABE UND PROBLEMSTELLUNG</a:t>
            </a:r>
          </a:p>
        </p:txBody>
      </p:sp>
      <p:sp>
        <p:nvSpPr>
          <p:cNvPr id="3" name="accent-2">
            <a:extLst>
              <a:ext uri="{FF2B5EF4-FFF2-40B4-BE49-F238E27FC236}">
                <a16:creationId xmlns:a16="http://schemas.microsoft.com/office/drawing/2014/main" id="{FAF361E2-0960-4FF1-B9B0-1024B8BA6827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2">
            <a:extLst>
              <a:ext uri="{FF2B5EF4-FFF2-40B4-BE49-F238E27FC236}">
                <a16:creationId xmlns:a16="http://schemas.microsoft.com/office/drawing/2014/main" id="{5158811F-90BE-4ADD-AAFA-0FD41EEE8328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Kap. 1</a:t>
            </a:r>
          </a:p>
        </p:txBody>
      </p:sp>
      <p:sp>
        <p:nvSpPr>
          <p:cNvPr id="5" name="page-2">
            <a:extLst>
              <a:ext uri="{FF2B5EF4-FFF2-40B4-BE49-F238E27FC236}">
                <a16:creationId xmlns:a16="http://schemas.microsoft.com/office/drawing/2014/main" id="{0AF2F745-17A2-45B7-B349-C3017786199D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situation-copy">
            <a:extLst>
              <a:ext uri="{FF2B5EF4-FFF2-40B4-BE49-F238E27FC236}">
                <a16:creationId xmlns:a16="http://schemas.microsoft.com/office/drawing/2014/main" id="{33C16CB8-EC25-493F-AD32-FEFFB0E8A473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6762750" cy="3143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JSON ist ein Standardformat für APIs, Webanwendungen und verteilte Systeme.
OracleDB, MongoDB und MySQL unterstützen JSON direkt, verwenden dabei aber unterschiedliche Daten- und Speichermodelle.
Dadurch unterscheiden sich Abfragen, Indexierung und Änderungen trotz identischer Dokumente.</a:t>
            </a:r>
          </a:p>
        </p:txBody>
      </p:sp>
      <p:sp>
        <p:nvSpPr>
          <p:cNvPr id="7" name="problem-visual">
            <a:extLst>
              <a:ext uri="{FF2B5EF4-FFF2-40B4-BE49-F238E27FC236}">
                <a16:creationId xmlns:a16="http://schemas.microsoft.com/office/drawing/2014/main" id="{4E6839B1-8F4E-45AC-8AAF-965B82A99B6F}"/>
              </a:ext>
            </a:extLst>
          </p:cNvPr>
          <p:cNvSpPr>
            <a:spLocks noGrp="1"/>
          </p:cNvSpPr>
          <p:nvPr/>
        </p:nvSpPr>
        <p:spPr>
          <a:xfrm>
            <a:off x="7524750" y="1771650"/>
            <a:ext cx="4267200" cy="29908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api-label">
            <a:extLst>
              <a:ext uri="{FF2B5EF4-FFF2-40B4-BE49-F238E27FC236}">
                <a16:creationId xmlns:a16="http://schemas.microsoft.com/office/drawing/2014/main" id="{6FE15FD7-D2C6-4D38-BC28-2D5288AA4BD2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11430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API</a:t>
            </a:r>
          </a:p>
        </p:txBody>
      </p:sp>
      <p:sp>
        <p:nvSpPr>
          <p:cNvPr id="9" name="json-label">
            <a:extLst>
              <a:ext uri="{FF2B5EF4-FFF2-40B4-BE49-F238E27FC236}">
                <a16:creationId xmlns:a16="http://schemas.microsoft.com/office/drawing/2014/main" id="{8C867621-2A50-4F96-AE02-8F9911101B55}"/>
              </a:ext>
            </a:extLst>
          </p:cNvPr>
          <p:cNvSpPr>
            <a:spLocks noGrp="1"/>
          </p:cNvSpPr>
          <p:nvPr/>
        </p:nvSpPr>
        <p:spPr>
          <a:xfrm>
            <a:off x="7905750" y="2838450"/>
            <a:ext cx="3143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t>{ JSON }</a:t>
            </a:r>
          </a:p>
        </p:txBody>
      </p:sp>
      <p:sp>
        <p:nvSpPr>
          <p:cNvPr id="10" name="three-systems">
            <a:extLst>
              <a:ext uri="{FF2B5EF4-FFF2-40B4-BE49-F238E27FC236}">
                <a16:creationId xmlns:a16="http://schemas.microsoft.com/office/drawing/2014/main" id="{4073E06B-6EC0-4EB1-A9BA-CA6357EF3F59}"/>
              </a:ext>
            </a:extLst>
          </p:cNvPr>
          <p:cNvSpPr>
            <a:spLocks noGrp="1"/>
          </p:cNvSpPr>
          <p:nvPr/>
        </p:nvSpPr>
        <p:spPr>
          <a:xfrm>
            <a:off x="7905750" y="3829050"/>
            <a:ext cx="32385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Drei Systeme, drei technische Einbettungen</a:t>
            </a:r>
          </a:p>
        </p:txBody>
      </p:sp>
      <p:sp>
        <p:nvSpPr>
          <p:cNvPr id="11" name="problem-question-panel">
            <a:extLst>
              <a:ext uri="{FF2B5EF4-FFF2-40B4-BE49-F238E27FC236}">
                <a16:creationId xmlns:a16="http://schemas.microsoft.com/office/drawing/2014/main" id="{64036713-CB87-413A-97E7-F034277D17F7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11391900" cy="8763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problem-question">
            <a:extLst>
              <a:ext uri="{FF2B5EF4-FFF2-40B4-BE49-F238E27FC236}">
                <a16:creationId xmlns:a16="http://schemas.microsoft.com/office/drawing/2014/main" id="{C6318E73-2C0A-40AA-8C38-BC9960698284}"/>
              </a:ext>
            </a:extLst>
          </p:cNvPr>
          <p:cNvSpPr>
            <a:spLocks noGrp="1"/>
          </p:cNvSpPr>
          <p:nvPr/>
        </p:nvSpPr>
        <p:spPr>
          <a:xfrm>
            <a:off x="647700" y="5334000"/>
            <a:ext cx="10896600" cy="514350"/>
          </a:xfrm>
          <a:prstGeom prst="rect">
            <a:avLst/>
          </a:prstGeom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Problemstellung: Wie unterscheiden sich OracleDB, MongoDB und MySQL bei Speicherung, Abfrage, Indexierung und Änderung von JSON?</a:t>
            </a:r>
          </a:p>
        </p:txBody>
      </p:sp>
    </p:spTree>
    <p:extLst>
      <p:ext uri="{BB962C8B-B14F-4D97-AF65-F5344CB8AC3E}">
        <p14:creationId xmlns:p14="http://schemas.microsoft.com/office/powerpoint/2010/main" val="34322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3">
            <a:extLst>
              <a:ext uri="{FF2B5EF4-FFF2-40B4-BE49-F238E27FC236}">
                <a16:creationId xmlns:a16="http://schemas.microsoft.com/office/drawing/2014/main" id="{E1A132E6-DAB8-4B0A-995F-FC198389585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844612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ZIELSETZUNG</a:t>
            </a:r>
          </a:p>
        </p:txBody>
      </p:sp>
      <p:sp>
        <p:nvSpPr>
          <p:cNvPr id="3" name="accent-3">
            <a:extLst>
              <a:ext uri="{FF2B5EF4-FFF2-40B4-BE49-F238E27FC236}">
                <a16:creationId xmlns:a16="http://schemas.microsoft.com/office/drawing/2014/main" id="{AABA1365-7D40-41BA-A340-B64A400439FF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3">
            <a:extLst>
              <a:ext uri="{FF2B5EF4-FFF2-40B4-BE49-F238E27FC236}">
                <a16:creationId xmlns:a16="http://schemas.microsoft.com/office/drawing/2014/main" id="{BAE8E7EA-489C-4C71-BC41-8B4B96E27A40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Kap. 1.2 und 4.1</a:t>
            </a:r>
          </a:p>
        </p:txBody>
      </p:sp>
      <p:sp>
        <p:nvSpPr>
          <p:cNvPr id="5" name="page-3">
            <a:extLst>
              <a:ext uri="{FF2B5EF4-FFF2-40B4-BE49-F238E27FC236}">
                <a16:creationId xmlns:a16="http://schemas.microsoft.com/office/drawing/2014/main" id="{E2929B56-0064-4B10-A234-85BCB3D5BABC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977A959-35A5-4532-9E1F-172A5BBDF9AF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34290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goal-head-0">
            <a:extLst>
              <a:ext uri="{FF2B5EF4-FFF2-40B4-BE49-F238E27FC236}">
                <a16:creationId xmlns:a16="http://schemas.microsoft.com/office/drawing/2014/main" id="{CA4DC286-F6D3-4536-BC4B-F8AEABAA9348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3429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t>Verstehen</a:t>
            </a:r>
          </a:p>
        </p:txBody>
      </p:sp>
      <p:sp>
        <p:nvSpPr>
          <p:cNvPr id="8" name="goal-body-0">
            <a:extLst>
              <a:ext uri="{FF2B5EF4-FFF2-40B4-BE49-F238E27FC236}">
                <a16:creationId xmlns:a16="http://schemas.microsoft.com/office/drawing/2014/main" id="{FB0ACF44-2838-45E5-8373-BAA60A266B41}"/>
              </a:ext>
            </a:extLst>
          </p:cNvPr>
          <p:cNvSpPr>
            <a:spLocks noGrp="1"/>
          </p:cNvSpPr>
          <p:nvPr/>
        </p:nvSpPr>
        <p:spPr>
          <a:xfrm>
            <a:off x="400050" y="2971800"/>
            <a:ext cx="3429000" cy="1695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Speicherformat, Datenmodell und JSON-Funktionen der drei Systeme einordnen.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6AE777B-F648-4AC6-AE54-4B9E8672094F}"/>
              </a:ext>
            </a:extLst>
          </p:cNvPr>
          <p:cNvSpPr>
            <a:spLocks noGrp="1"/>
          </p:cNvSpPr>
          <p:nvPr/>
        </p:nvSpPr>
        <p:spPr>
          <a:xfrm>
            <a:off x="4381500" y="1962150"/>
            <a:ext cx="3429000" cy="76200"/>
          </a:xfrm>
          <a:prstGeom prst="rect">
            <a:avLst/>
          </a:prstGeom>
          <a:solidFill>
            <a:srgbClr val="00A35C"/>
          </a:solidFill>
          <a:ln w="0">
            <a:solidFill>
              <a:srgbClr val="00A3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goal-head-1">
            <a:extLst>
              <a:ext uri="{FF2B5EF4-FFF2-40B4-BE49-F238E27FC236}">
                <a16:creationId xmlns:a16="http://schemas.microsoft.com/office/drawing/2014/main" id="{49F32F1A-4068-44AE-B468-C2D8D974CDAA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3429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t>Vergleichen</a:t>
            </a:r>
          </a:p>
        </p:txBody>
      </p:sp>
      <p:sp>
        <p:nvSpPr>
          <p:cNvPr id="11" name="goal-body-1">
            <a:extLst>
              <a:ext uri="{FF2B5EF4-FFF2-40B4-BE49-F238E27FC236}">
                <a16:creationId xmlns:a16="http://schemas.microsoft.com/office/drawing/2014/main" id="{287CFBE2-6F95-4558-91B0-67E7EBAC4F41}"/>
              </a:ext>
            </a:extLst>
          </p:cNvPr>
          <p:cNvSpPr>
            <a:spLocks noGrp="1"/>
          </p:cNvSpPr>
          <p:nvPr/>
        </p:nvSpPr>
        <p:spPr>
          <a:xfrm>
            <a:off x="4381500" y="2971800"/>
            <a:ext cx="3429000" cy="1695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Validierung, Abfrage, Indexierung und Änderbarkeit funktional gegenüberstellen.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911FC53-735B-4E86-B89E-C251C25DAF60}"/>
              </a:ext>
            </a:extLst>
          </p:cNvPr>
          <p:cNvSpPr>
            <a:spLocks noGrp="1"/>
          </p:cNvSpPr>
          <p:nvPr/>
        </p:nvSpPr>
        <p:spPr>
          <a:xfrm>
            <a:off x="8362950" y="1962150"/>
            <a:ext cx="3429000" cy="76200"/>
          </a:xfrm>
          <a:prstGeom prst="rect">
            <a:avLst/>
          </a:prstGeom>
          <a:solidFill>
            <a:srgbClr val="00758F"/>
          </a:solidFill>
          <a:ln w="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goal-head-2">
            <a:extLst>
              <a:ext uri="{FF2B5EF4-FFF2-40B4-BE49-F238E27FC236}">
                <a16:creationId xmlns:a16="http://schemas.microsoft.com/office/drawing/2014/main" id="{D99B9D0F-5FF1-4B16-849E-49FDD4075DCB}"/>
              </a:ext>
            </a:extLst>
          </p:cNvPr>
          <p:cNvSpPr>
            <a:spLocks noGrp="1"/>
          </p:cNvSpPr>
          <p:nvPr/>
        </p:nvSpPr>
        <p:spPr>
          <a:xfrm>
            <a:off x="8362950" y="2324100"/>
            <a:ext cx="3429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>
                <a:solidFill>
                  <a:srgbClr val="00758F"/>
                </a:solidFill>
                <a:latin typeface="Helvetica Neue"/>
                <a:ea typeface="Helvetica Neue"/>
                <a:cs typeface="Helvetica Neue"/>
              </a:defRPr>
            </a:pPr>
            <a:r>
              <a:t>Messen</a:t>
            </a:r>
          </a:p>
        </p:txBody>
      </p:sp>
      <p:sp>
        <p:nvSpPr>
          <p:cNvPr id="14" name="goal-body-2">
            <a:extLst>
              <a:ext uri="{FF2B5EF4-FFF2-40B4-BE49-F238E27FC236}">
                <a16:creationId xmlns:a16="http://schemas.microsoft.com/office/drawing/2014/main" id="{333700A4-C24D-4783-89BC-466315732659}"/>
              </a:ext>
            </a:extLst>
          </p:cNvPr>
          <p:cNvSpPr>
            <a:spLocks noGrp="1"/>
          </p:cNvSpPr>
          <p:nvPr/>
        </p:nvSpPr>
        <p:spPr>
          <a:xfrm>
            <a:off x="8362950" y="2971800"/>
            <a:ext cx="3429000" cy="1695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Typische Operationen mit identischen Testdokumenten praktisch benchmarken.</a:t>
            </a:r>
          </a:p>
        </p:txBody>
      </p:sp>
      <p:sp>
        <p:nvSpPr>
          <p:cNvPr id="15" name="scope-panel">
            <a:extLst>
              <a:ext uri="{FF2B5EF4-FFF2-40B4-BE49-F238E27FC236}">
                <a16:creationId xmlns:a16="http://schemas.microsoft.com/office/drawing/2014/main" id="{04DAC9F4-9F3E-4E40-B82D-0737E71B5A09}"/>
              </a:ext>
            </a:extLst>
          </p:cNvPr>
          <p:cNvSpPr>
            <a:spLocks noGrp="1"/>
          </p:cNvSpPr>
          <p:nvPr/>
        </p:nvSpPr>
        <p:spPr>
          <a:xfrm>
            <a:off x="400050" y="5124450"/>
            <a:ext cx="11391900" cy="87630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cope-label">
            <a:extLst>
              <a:ext uri="{FF2B5EF4-FFF2-40B4-BE49-F238E27FC236}">
                <a16:creationId xmlns:a16="http://schemas.microsoft.com/office/drawing/2014/main" id="{DF8FF876-9E34-4F07-B0FA-8FB5384F3751}"/>
              </a:ext>
            </a:extLst>
          </p:cNvPr>
          <p:cNvSpPr>
            <a:spLocks noGrp="1"/>
          </p:cNvSpPr>
          <p:nvPr/>
        </p:nvSpPr>
        <p:spPr>
          <a:xfrm>
            <a:off x="647700" y="5324475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Abgrenzung</a:t>
            </a:r>
          </a:p>
        </p:txBody>
      </p:sp>
      <p:sp>
        <p:nvSpPr>
          <p:cNvPr id="17" name="scope-copy">
            <a:extLst>
              <a:ext uri="{FF2B5EF4-FFF2-40B4-BE49-F238E27FC236}">
                <a16:creationId xmlns:a16="http://schemas.microsoft.com/office/drawing/2014/main" id="{76B9007C-68D9-458F-AF2A-E3D7693B8D60}"/>
              </a:ext>
            </a:extLst>
          </p:cNvPr>
          <p:cNvSpPr>
            <a:spLocks noGrp="1"/>
          </p:cNvSpPr>
          <p:nvPr/>
        </p:nvSpPr>
        <p:spPr>
          <a:xfrm>
            <a:off x="2400300" y="5305425"/>
            <a:ext cx="8858250" cy="457200"/>
          </a:xfrm>
          <a:prstGeom prst="rect">
            <a:avLst/>
          </a:prstGeom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Ausgewählte Kernfunktionen und ein kontrollierter Microbenchmark, keine universelle Hersteller-Rangliste.</a:t>
            </a:r>
          </a:p>
        </p:txBody>
      </p:sp>
    </p:spTree>
    <p:extLst>
      <p:ext uri="{BB962C8B-B14F-4D97-AF65-F5344CB8AC3E}">
        <p14:creationId xmlns:p14="http://schemas.microsoft.com/office/powerpoint/2010/main" val="185015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-4">
            <a:extLst>
              <a:ext uri="{FF2B5EF4-FFF2-40B4-BE49-F238E27FC236}">
                <a16:creationId xmlns:a16="http://schemas.microsoft.com/office/drawing/2014/main" id="{9E18F7C8-5E49-4C1D-A5E6-06C1FBAC9C6F}"/>
              </a:ext>
            </a:extLst>
          </p:cNvPr>
          <p:cNvSpPr>
            <a:spLocks noGrp="1"/>
          </p:cNvSpPr>
          <p:nvPr/>
        </p:nvSpPr>
        <p:spPr>
          <a:xfrm>
            <a:off x="400050" y="266699"/>
            <a:ext cx="4361136" cy="577209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VORGEHEN</a:t>
            </a:r>
          </a:p>
        </p:txBody>
      </p:sp>
      <p:sp>
        <p:nvSpPr>
          <p:cNvPr id="3" name="accent-4">
            <a:extLst>
              <a:ext uri="{FF2B5EF4-FFF2-40B4-BE49-F238E27FC236}">
                <a16:creationId xmlns:a16="http://schemas.microsoft.com/office/drawing/2014/main" id="{4E7EA4BA-AF2F-4B0A-9BD4-52C8CAF1C8BF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4">
            <a:extLst>
              <a:ext uri="{FF2B5EF4-FFF2-40B4-BE49-F238E27FC236}">
                <a16:creationId xmlns:a16="http://schemas.microsoft.com/office/drawing/2014/main" id="{CD770B7C-C17C-46A8-855E-B80C9AAFD784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eigene Darstellung nach Aufbau der Studienarbeit</a:t>
            </a:r>
          </a:p>
        </p:txBody>
      </p:sp>
      <p:sp>
        <p:nvSpPr>
          <p:cNvPr id="5" name="page-4">
            <a:extLst>
              <a:ext uri="{FF2B5EF4-FFF2-40B4-BE49-F238E27FC236}">
                <a16:creationId xmlns:a16="http://schemas.microsoft.com/office/drawing/2014/main" id="{E6BB2398-F22F-44CD-9E7E-036ED50148F6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cxnSp>
        <p:nvCxnSpPr>
          <p:cNvPr id="34" name="Gerade Verbindung mit Pfeil 33"/>
          <p:cNvCxnSpPr/>
          <p:nvPr/>
        </p:nvCxnSpPr>
        <p:spPr>
          <a:xfrm>
            <a:off x="838200" y="3333750"/>
            <a:ext cx="9810750" cy="953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15AC58EF-B614-408F-A8EA-54CCA8781ADB}"/>
              </a:ext>
            </a:extLst>
          </p:cNvPr>
          <p:cNvSpPr>
            <a:spLocks noGrp="1"/>
          </p:cNvSpPr>
          <p:nvPr/>
        </p:nvSpPr>
        <p:spPr>
          <a:xfrm>
            <a:off x="819150" y="3248025"/>
            <a:ext cx="171450" cy="17145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BCA335C-1AC1-41A3-AC8C-EA064842FA3C}"/>
              </a:ext>
            </a:extLst>
          </p:cNvPr>
          <p:cNvSpPr>
            <a:spLocks noGrp="1"/>
          </p:cNvSpPr>
          <p:nvPr/>
        </p:nvSpPr>
        <p:spPr>
          <a:xfrm>
            <a:off x="3562350" y="3248025"/>
            <a:ext cx="171450" cy="17145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CC0ED56-3A88-48C2-80D0-CC15B22C09C6}"/>
              </a:ext>
            </a:extLst>
          </p:cNvPr>
          <p:cNvSpPr>
            <a:spLocks noGrp="1"/>
          </p:cNvSpPr>
          <p:nvPr/>
        </p:nvSpPr>
        <p:spPr>
          <a:xfrm>
            <a:off x="6305550" y="3248025"/>
            <a:ext cx="171450" cy="17145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FB4E1CE-8BF5-4538-B195-F0439D5255CD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71450" cy="171450"/>
          </a:xfrm>
          <a:prstGeom prst="ellipse">
            <a:avLst/>
          </a:prstGeom>
          <a:solidFill>
            <a:srgbClr val="3D8DFF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method-num-0">
            <a:extLst>
              <a:ext uri="{FF2B5EF4-FFF2-40B4-BE49-F238E27FC236}">
                <a16:creationId xmlns:a16="http://schemas.microsoft.com/office/drawing/2014/main" id="{E5025AD5-9523-4581-BD3F-ACE11C1ED73C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2" name="method-head-0">
            <a:extLst>
              <a:ext uri="{FF2B5EF4-FFF2-40B4-BE49-F238E27FC236}">
                <a16:creationId xmlns:a16="http://schemas.microsoft.com/office/drawing/2014/main" id="{8964D610-45A0-4158-B4EA-755A76B8D7B3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223837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Grundlagen</a:t>
            </a:r>
          </a:p>
        </p:txBody>
      </p:sp>
      <p:sp>
        <p:nvSpPr>
          <p:cNvPr id="13" name="method-body-0">
            <a:extLst>
              <a:ext uri="{FF2B5EF4-FFF2-40B4-BE49-F238E27FC236}">
                <a16:creationId xmlns:a16="http://schemas.microsoft.com/office/drawing/2014/main" id="{3AA19207-CE32-4AFF-AA58-58A4226F4C9B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22669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Relational, dokumentenorientiert und JSON</a:t>
            </a:r>
          </a:p>
        </p:txBody>
      </p:sp>
      <p:sp>
        <p:nvSpPr>
          <p:cNvPr id="14" name="method-num-1">
            <a:extLst>
              <a:ext uri="{FF2B5EF4-FFF2-40B4-BE49-F238E27FC236}">
                <a16:creationId xmlns:a16="http://schemas.microsoft.com/office/drawing/2014/main" id="{398E7AFB-6F44-42E6-AAA4-6E777F418574}"/>
              </a:ext>
            </a:extLst>
          </p:cNvPr>
          <p:cNvSpPr>
            <a:spLocks noGrp="1"/>
          </p:cNvSpPr>
          <p:nvPr/>
        </p:nvSpPr>
        <p:spPr>
          <a:xfrm>
            <a:off x="3543300" y="2724150"/>
            <a:ext cx="666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method-head-1">
            <a:extLst>
              <a:ext uri="{FF2B5EF4-FFF2-40B4-BE49-F238E27FC236}">
                <a16:creationId xmlns:a16="http://schemas.microsoft.com/office/drawing/2014/main" id="{EAC7BF1A-155A-4BC9-907F-5B0813208AA6}"/>
              </a:ext>
            </a:extLst>
          </p:cNvPr>
          <p:cNvSpPr>
            <a:spLocks noGrp="1"/>
          </p:cNvSpPr>
          <p:nvPr/>
        </p:nvSpPr>
        <p:spPr>
          <a:xfrm>
            <a:off x="3543300" y="3752850"/>
            <a:ext cx="223837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Systemanalyse</a:t>
            </a:r>
          </a:p>
        </p:txBody>
      </p:sp>
      <p:sp>
        <p:nvSpPr>
          <p:cNvPr id="16" name="method-body-1">
            <a:extLst>
              <a:ext uri="{FF2B5EF4-FFF2-40B4-BE49-F238E27FC236}">
                <a16:creationId xmlns:a16="http://schemas.microsoft.com/office/drawing/2014/main" id="{01FD9CF3-1462-4B51-B36F-9384D809B809}"/>
              </a:ext>
            </a:extLst>
          </p:cNvPr>
          <p:cNvSpPr>
            <a:spLocks noGrp="1"/>
          </p:cNvSpPr>
          <p:nvPr/>
        </p:nvSpPr>
        <p:spPr>
          <a:xfrm>
            <a:off x="3543300" y="4324350"/>
            <a:ext cx="22669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Speichern, lesen, indexieren und ändern</a:t>
            </a:r>
          </a:p>
        </p:txBody>
      </p:sp>
      <p:sp>
        <p:nvSpPr>
          <p:cNvPr id="17" name="method-num-2">
            <a:extLst>
              <a:ext uri="{FF2B5EF4-FFF2-40B4-BE49-F238E27FC236}">
                <a16:creationId xmlns:a16="http://schemas.microsoft.com/office/drawing/2014/main" id="{F87B78E7-2661-415B-B5B2-18AC52BE67F2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666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8" name="method-head-2">
            <a:extLst>
              <a:ext uri="{FF2B5EF4-FFF2-40B4-BE49-F238E27FC236}">
                <a16:creationId xmlns:a16="http://schemas.microsoft.com/office/drawing/2014/main" id="{9219DCF2-50EA-437F-8A08-BEB6055869C0}"/>
              </a:ext>
            </a:extLst>
          </p:cNvPr>
          <p:cNvSpPr>
            <a:spLocks noGrp="1"/>
          </p:cNvSpPr>
          <p:nvPr/>
        </p:nvSpPr>
        <p:spPr>
          <a:xfrm>
            <a:off x="6286500" y="3752850"/>
            <a:ext cx="223837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</a:t>
            </a:r>
          </a:p>
        </p:txBody>
      </p:sp>
      <p:sp>
        <p:nvSpPr>
          <p:cNvPr id="19" name="method-body-2">
            <a:extLst>
              <a:ext uri="{FF2B5EF4-FFF2-40B4-BE49-F238E27FC236}">
                <a16:creationId xmlns:a16="http://schemas.microsoft.com/office/drawing/2014/main" id="{697A64B9-9B88-4A81-8A63-94175E7B053D}"/>
              </a:ext>
            </a:extLst>
          </p:cNvPr>
          <p:cNvSpPr>
            <a:spLocks noGrp="1"/>
          </p:cNvSpPr>
          <p:nvPr/>
        </p:nvSpPr>
        <p:spPr>
          <a:xfrm>
            <a:off x="6286500" y="4324350"/>
            <a:ext cx="22669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10.000 Dokumente, 5 Operationen, 2 Modi</a:t>
            </a:r>
          </a:p>
        </p:txBody>
      </p:sp>
      <p:sp>
        <p:nvSpPr>
          <p:cNvPr id="20" name="method-num-3">
            <a:extLst>
              <a:ext uri="{FF2B5EF4-FFF2-40B4-BE49-F238E27FC236}">
                <a16:creationId xmlns:a16="http://schemas.microsoft.com/office/drawing/2014/main" id="{9FC7D1DE-9DE0-49D0-A91F-2284FBD2BBA1}"/>
              </a:ext>
            </a:extLst>
          </p:cNvPr>
          <p:cNvSpPr>
            <a:spLocks noGrp="1"/>
          </p:cNvSpPr>
          <p:nvPr/>
        </p:nvSpPr>
        <p:spPr>
          <a:xfrm>
            <a:off x="9029700" y="2724150"/>
            <a:ext cx="666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1" name="method-head-3">
            <a:extLst>
              <a:ext uri="{FF2B5EF4-FFF2-40B4-BE49-F238E27FC236}">
                <a16:creationId xmlns:a16="http://schemas.microsoft.com/office/drawing/2014/main" id="{144A0275-8F08-40C3-8B80-D89CE8983EDF}"/>
              </a:ext>
            </a:extLst>
          </p:cNvPr>
          <p:cNvSpPr>
            <a:spLocks noGrp="1"/>
          </p:cNvSpPr>
          <p:nvPr/>
        </p:nvSpPr>
        <p:spPr>
          <a:xfrm>
            <a:off x="9029700" y="3752850"/>
            <a:ext cx="223837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Bewertung</a:t>
            </a:r>
          </a:p>
        </p:txBody>
      </p:sp>
      <p:sp>
        <p:nvSpPr>
          <p:cNvPr id="22" name="method-body-3">
            <a:extLst>
              <a:ext uri="{FF2B5EF4-FFF2-40B4-BE49-F238E27FC236}">
                <a16:creationId xmlns:a16="http://schemas.microsoft.com/office/drawing/2014/main" id="{9AC73C5E-2A19-4CD4-96BD-DFBAFC2C45D4}"/>
              </a:ext>
            </a:extLst>
          </p:cNvPr>
          <p:cNvSpPr>
            <a:spLocks noGrp="1"/>
          </p:cNvSpPr>
          <p:nvPr/>
        </p:nvSpPr>
        <p:spPr>
          <a:xfrm>
            <a:off x="9029700" y="4324350"/>
            <a:ext cx="22669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Messwerte, Grenzen und Einsatzszenarien</a:t>
            </a:r>
          </a:p>
        </p:txBody>
      </p:sp>
    </p:spTree>
    <p:extLst>
      <p:ext uri="{BB962C8B-B14F-4D97-AF65-F5344CB8AC3E}">
        <p14:creationId xmlns:p14="http://schemas.microsoft.com/office/powerpoint/2010/main" val="90514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5">
            <a:extLst>
              <a:ext uri="{FF2B5EF4-FFF2-40B4-BE49-F238E27FC236}">
                <a16:creationId xmlns:a16="http://schemas.microsoft.com/office/drawing/2014/main" id="{92457BDB-E258-4A5B-A74E-751E97299E7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644916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SPEICHERUNG</a:t>
            </a:r>
          </a:p>
        </p:txBody>
      </p:sp>
      <p:sp>
        <p:nvSpPr>
          <p:cNvPr id="3" name="accent-5">
            <a:extLst>
              <a:ext uri="{FF2B5EF4-FFF2-40B4-BE49-F238E27FC236}">
                <a16:creationId xmlns:a16="http://schemas.microsoft.com/office/drawing/2014/main" id="{5673EF13-A928-48AF-96C4-CA0C359F2F88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5">
            <a:extLst>
              <a:ext uri="{FF2B5EF4-FFF2-40B4-BE49-F238E27FC236}">
                <a16:creationId xmlns:a16="http://schemas.microsoft.com/office/drawing/2014/main" id="{72A03686-29DE-4924-A553-19487B6B4C6A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Kap. 3.1 bis 3.3</a:t>
            </a:r>
          </a:p>
        </p:txBody>
      </p:sp>
      <p:sp>
        <p:nvSpPr>
          <p:cNvPr id="5" name="page-5">
            <a:extLst>
              <a:ext uri="{FF2B5EF4-FFF2-40B4-BE49-F238E27FC236}">
                <a16:creationId xmlns:a16="http://schemas.microsoft.com/office/drawing/2014/main" id="{296178BD-1745-4942-8C03-76E5138C90C8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E000520-D6A5-4164-8822-B9265F730D1E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4290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1B56657-4FEB-4C5F-B7F2-0ECC90647FB5}"/>
              </a:ext>
            </a:extLst>
          </p:cNvPr>
          <p:cNvSpPr>
            <a:spLocks noGrp="1"/>
          </p:cNvSpPr>
          <p:nvPr/>
        </p:nvSpPr>
        <p:spPr>
          <a:xfrm>
            <a:off x="400050" y="20478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t>OracleDB</a:t>
            </a:r>
          </a:p>
        </p:txBody>
      </p:sp>
      <p:sp>
        <p:nvSpPr>
          <p:cNvPr id="8" name="storage-model-0">
            <a:extLst>
              <a:ext uri="{FF2B5EF4-FFF2-40B4-BE49-F238E27FC236}">
                <a16:creationId xmlns:a16="http://schemas.microsoft.com/office/drawing/2014/main" id="{89DCD01C-2E37-428E-9954-C3F325E20670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3429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Tabelle → JSON-Spalte</a:t>
            </a:r>
          </a:p>
        </p:txBody>
      </p:sp>
      <p:sp>
        <p:nvSpPr>
          <p:cNvPr id="9" name="storage-body-0">
            <a:extLst>
              <a:ext uri="{FF2B5EF4-FFF2-40B4-BE49-F238E27FC236}">
                <a16:creationId xmlns:a16="http://schemas.microsoft.com/office/drawing/2014/main" id="{C15CB11B-55D3-46A9-BDD4-1150236B6F30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34290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Natives JSON wird intern als OSON gespeichert. SQL/JSON-Funktionen greifen auf Pfade zu; JSON Relational Duality bildet relationale Daten alternativ als Dokument ab.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FCFFC41-D8D7-4DDE-AACF-0B5BB8573A0E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429000" cy="76200"/>
          </a:xfrm>
          <a:prstGeom prst="rect">
            <a:avLst/>
          </a:prstGeom>
          <a:solidFill>
            <a:srgbClr val="00A35C"/>
          </a:solidFill>
          <a:ln w="0">
            <a:solidFill>
              <a:srgbClr val="00A3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61C6580-9380-4457-9C3E-D224D18FE831}"/>
              </a:ext>
            </a:extLst>
          </p:cNvPr>
          <p:cNvSpPr>
            <a:spLocks noGrp="1"/>
          </p:cNvSpPr>
          <p:nvPr/>
        </p:nvSpPr>
        <p:spPr>
          <a:xfrm>
            <a:off x="4305300" y="20478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t>MongoDB</a:t>
            </a:r>
          </a:p>
        </p:txBody>
      </p:sp>
      <p:sp>
        <p:nvSpPr>
          <p:cNvPr id="12" name="storage-model-1">
            <a:extLst>
              <a:ext uri="{FF2B5EF4-FFF2-40B4-BE49-F238E27FC236}">
                <a16:creationId xmlns:a16="http://schemas.microsoft.com/office/drawing/2014/main" id="{689A227B-3DD8-4460-A8F9-11BBD0D3F9A1}"/>
              </a:ext>
            </a:extLst>
          </p:cNvPr>
          <p:cNvSpPr>
            <a:spLocks noGrp="1"/>
          </p:cNvSpPr>
          <p:nvPr/>
        </p:nvSpPr>
        <p:spPr>
          <a:xfrm>
            <a:off x="4305300" y="2800350"/>
            <a:ext cx="3429000" cy="457200"/>
          </a:xfrm>
          <a:prstGeom prst="rect">
            <a:avLst/>
          </a:prstGeom>
        </p:spPr>
        <p:txBody>
          <a:bodyPr wrap="square" lIns="0" tIns="0" rIns="0" bIns="0" anchor="t">
            <a:normAutofit fontScale="90069"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Collection → BSON-Dokument</a:t>
            </a:r>
          </a:p>
        </p:txBody>
      </p:sp>
      <p:sp>
        <p:nvSpPr>
          <p:cNvPr id="13" name="storage-body-1">
            <a:extLst>
              <a:ext uri="{FF2B5EF4-FFF2-40B4-BE49-F238E27FC236}">
                <a16:creationId xmlns:a16="http://schemas.microsoft.com/office/drawing/2014/main" id="{DA4E49E3-152C-405B-8961-FC1B02FDD77A}"/>
              </a:ext>
            </a:extLst>
          </p:cNvPr>
          <p:cNvSpPr>
            <a:spLocks noGrp="1"/>
          </p:cNvSpPr>
          <p:nvPr/>
        </p:nvSpPr>
        <p:spPr>
          <a:xfrm>
            <a:off x="4305300" y="3543300"/>
            <a:ext cx="34290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Das Dokument ist das Kernmodell. BSON repräsentiert Objekte, Arrays und zusätzliche Datentypen direkt; ein Schema ist optional validierbar.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52C9D30-D2B4-4CFA-89BA-D92B3B08FD04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3429000" cy="76200"/>
          </a:xfrm>
          <a:prstGeom prst="rect">
            <a:avLst/>
          </a:prstGeom>
          <a:solidFill>
            <a:srgbClr val="00758F"/>
          </a:solidFill>
          <a:ln w="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02634C8-BE4B-4F1B-ACF5-F5BB0593BBBE}"/>
              </a:ext>
            </a:extLst>
          </p:cNvPr>
          <p:cNvSpPr>
            <a:spLocks noGrp="1"/>
          </p:cNvSpPr>
          <p:nvPr/>
        </p:nvSpPr>
        <p:spPr>
          <a:xfrm>
            <a:off x="8210550" y="20478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758F"/>
                </a:solidFill>
                <a:latin typeface="Helvetica Neue"/>
                <a:ea typeface="Helvetica Neue"/>
                <a:cs typeface="Helvetica Neue"/>
              </a:defRPr>
            </a:pPr>
            <a:r>
              <a:t>MySQL</a:t>
            </a:r>
          </a:p>
        </p:txBody>
      </p:sp>
      <p:sp>
        <p:nvSpPr>
          <p:cNvPr id="16" name="storage-model-2">
            <a:extLst>
              <a:ext uri="{FF2B5EF4-FFF2-40B4-BE49-F238E27FC236}">
                <a16:creationId xmlns:a16="http://schemas.microsoft.com/office/drawing/2014/main" id="{391F3F99-AA6B-4258-8C33-D5FFE536599B}"/>
              </a:ext>
            </a:extLst>
          </p:cNvPr>
          <p:cNvSpPr>
            <a:spLocks noGrp="1"/>
          </p:cNvSpPr>
          <p:nvPr/>
        </p:nvSpPr>
        <p:spPr>
          <a:xfrm>
            <a:off x="8210550" y="2800350"/>
            <a:ext cx="3429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Tabelle → JSON-Spalte</a:t>
            </a:r>
          </a:p>
        </p:txBody>
      </p:sp>
      <p:sp>
        <p:nvSpPr>
          <p:cNvPr id="17" name="storage-body-2">
            <a:extLst>
              <a:ext uri="{FF2B5EF4-FFF2-40B4-BE49-F238E27FC236}">
                <a16:creationId xmlns:a16="http://schemas.microsoft.com/office/drawing/2014/main" id="{E84A204F-B6CD-4060-9B0D-FE098A09CC4A}"/>
              </a:ext>
            </a:extLst>
          </p:cNvPr>
          <p:cNvSpPr>
            <a:spLocks noGrp="1"/>
          </p:cNvSpPr>
          <p:nvPr/>
        </p:nvSpPr>
        <p:spPr>
          <a:xfrm>
            <a:off x="8210550" y="3543300"/>
            <a:ext cx="34290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Der native JSON-Typ validiert Eingaben und nutzt ein proprietäres binäres Format. Zugriff erfolgt mit SQL und JSON-Funktionen.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7F8A111-D74B-45BE-BAAB-ED030CF812D9}"/>
              </a:ext>
            </a:extLst>
          </p:cNvPr>
          <p:cNvSpPr>
            <a:spLocks noGrp="1"/>
          </p:cNvSpPr>
          <p:nvPr/>
        </p:nvSpPr>
        <p:spPr>
          <a:xfrm>
            <a:off x="3943350" y="1809750"/>
            <a:ext cx="9525" cy="38671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EEE4C5D-D44C-4F0F-9186-F6D551A793CA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38671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018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-6">
            <a:extLst>
              <a:ext uri="{FF2B5EF4-FFF2-40B4-BE49-F238E27FC236}">
                <a16:creationId xmlns:a16="http://schemas.microsoft.com/office/drawing/2014/main" id="{67C852CD-7B55-47FE-8906-37E3A27059A6}"/>
              </a:ext>
            </a:extLst>
          </p:cNvPr>
          <p:cNvSpPr>
            <a:spLocks noGrp="1"/>
          </p:cNvSpPr>
          <p:nvPr/>
        </p:nvSpPr>
        <p:spPr>
          <a:xfrm>
            <a:off x="400050" y="266699"/>
            <a:ext cx="4707978" cy="679231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FUNKTIONALER VERGLEICH</a:t>
            </a:r>
          </a:p>
        </p:txBody>
      </p:sp>
      <p:sp>
        <p:nvSpPr>
          <p:cNvPr id="3" name="accent-6">
            <a:extLst>
              <a:ext uri="{FF2B5EF4-FFF2-40B4-BE49-F238E27FC236}">
                <a16:creationId xmlns:a16="http://schemas.microsoft.com/office/drawing/2014/main" id="{5CC5822A-DF7C-46D3-9316-B1BF6C0178AA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6">
            <a:extLst>
              <a:ext uri="{FF2B5EF4-FFF2-40B4-BE49-F238E27FC236}">
                <a16:creationId xmlns:a16="http://schemas.microsoft.com/office/drawing/2014/main" id="{10B7930F-7194-404B-B5FC-A2D78A6D6A3E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Kap. 4.2 bis 4.4</a:t>
            </a:r>
          </a:p>
        </p:txBody>
      </p:sp>
      <p:sp>
        <p:nvSpPr>
          <p:cNvPr id="5" name="page-6">
            <a:extLst>
              <a:ext uri="{FF2B5EF4-FFF2-40B4-BE49-F238E27FC236}">
                <a16:creationId xmlns:a16="http://schemas.microsoft.com/office/drawing/2014/main" id="{2B027886-5D82-4353-9679-B6FBE5F3D07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DE3AF93-E4D3-4C28-93D8-C8A53C3E2D28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11391900" cy="4572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 lIns="190500" tIns="0" rIns="190500" bIns="0" anchor="ctr"/>
          <a:lstStyle/>
          <a:p>
            <a:pPr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Gemeinsame JSON-Fähigkeit bedeutet nicht dasselbe Datenmodell und nicht denselben optimalen Einsatzfall.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503B5A7-4A91-43EF-0D06-9B2FC8BC2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10337"/>
              </p:ext>
            </p:extLst>
          </p:nvPr>
        </p:nvGraphicFramePr>
        <p:xfrm>
          <a:off x="1507851" y="1560933"/>
          <a:ext cx="9485312" cy="3915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6752">
                  <a:extLst>
                    <a:ext uri="{9D8B030D-6E8A-4147-A177-3AD203B41FA5}">
                      <a16:colId xmlns:a16="http://schemas.microsoft.com/office/drawing/2014/main" val="2228898748"/>
                    </a:ext>
                  </a:extLst>
                </a:gridCol>
                <a:gridCol w="2537472">
                  <a:extLst>
                    <a:ext uri="{9D8B030D-6E8A-4147-A177-3AD203B41FA5}">
                      <a16:colId xmlns:a16="http://schemas.microsoft.com/office/drawing/2014/main" val="3916732445"/>
                    </a:ext>
                  </a:extLst>
                </a:gridCol>
                <a:gridCol w="2129664">
                  <a:extLst>
                    <a:ext uri="{9D8B030D-6E8A-4147-A177-3AD203B41FA5}">
                      <a16:colId xmlns:a16="http://schemas.microsoft.com/office/drawing/2014/main" val="1099182286"/>
                    </a:ext>
                  </a:extLst>
                </a:gridCol>
                <a:gridCol w="3111424">
                  <a:extLst>
                    <a:ext uri="{9D8B030D-6E8A-4147-A177-3AD203B41FA5}">
                      <a16:colId xmlns:a16="http://schemas.microsoft.com/office/drawing/2014/main" val="2588361638"/>
                    </a:ext>
                  </a:extLst>
                </a:gridCol>
              </a:tblGrid>
              <a:tr h="1523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800" b="1" u="none" strike="noStrike" dirty="0">
                          <a:effectLst/>
                        </a:rPr>
                        <a:t>Kriterium</a:t>
                      </a:r>
                      <a:endParaRPr lang="de-DE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800" b="1" u="none" strike="noStrike">
                          <a:effectLst/>
                        </a:rPr>
                        <a:t>OracleDB</a:t>
                      </a:r>
                      <a:endParaRPr lang="de-DE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800" b="1" u="none" strike="noStrike">
                          <a:effectLst/>
                        </a:rPr>
                        <a:t>MongoDB</a:t>
                      </a:r>
                      <a:endParaRPr lang="de-DE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800" b="1" u="none" strike="noStrike" dirty="0">
                          <a:effectLst/>
                        </a:rPr>
                        <a:t>MySQL</a:t>
                      </a:r>
                      <a:endParaRPr lang="de-DE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558087"/>
                  </a:ext>
                </a:extLst>
              </a:tr>
              <a:tr h="609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b="1" u="none" strike="noStrike" dirty="0">
                          <a:effectLst/>
                        </a:rPr>
                        <a:t>Grundmodell</a:t>
                      </a:r>
                      <a:endParaRPr lang="de-DE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Relational + JSON-Erweiterungen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Dokumentenorientiert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 dirty="0">
                          <a:effectLst/>
                        </a:rPr>
                        <a:t>Relational + JSON-Erweiterungen</a:t>
                      </a:r>
                      <a:endParaRPr lang="de-DE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510623"/>
                  </a:ext>
                </a:extLst>
              </a:tr>
              <a:tr h="4569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b="1" u="none" strike="noStrike" dirty="0">
                          <a:effectLst/>
                        </a:rPr>
                        <a:t>Speicherung</a:t>
                      </a:r>
                      <a:endParaRPr lang="de-DE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JSON-Spalte, intern OSON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Dokumente, intern BSON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JSON-Spalte, intern binär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58546"/>
                  </a:ext>
                </a:extLst>
              </a:tr>
              <a:tr h="609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b="1" u="none" strike="noStrike" dirty="0">
                          <a:effectLst/>
                        </a:rPr>
                        <a:t>Schema</a:t>
                      </a:r>
                      <a:endParaRPr lang="de-DE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Relationales Schema; JSON flexibel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Flexibles Schema; optionale Validierung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Relationales Schema; JSON flexibel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18558"/>
                  </a:ext>
                </a:extLst>
              </a:tr>
              <a:tr h="609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b="1" u="none" strike="noStrike">
                          <a:effectLst/>
                        </a:rPr>
                        <a:t>Abfragen</a:t>
                      </a:r>
                      <a:endParaRPr lang="de-DE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SQL/JSON und Relational Duality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Dokumentabfragen und Aggregation Pipeline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SQL/JSON und Document Store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13642"/>
                  </a:ext>
                </a:extLst>
              </a:tr>
              <a:tr h="609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b="1" u="none" strike="noStrike">
                          <a:effectLst/>
                        </a:rPr>
                        <a:t>Indexierung</a:t>
                      </a:r>
                      <a:endParaRPr lang="de-DE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JSON- und funktionsbasierte Indizes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dirty="0"/>
                        <a:t>Indizes auf Felder und verschachtelte Feldpfade, </a:t>
                      </a:r>
                      <a:r>
                        <a:rPr lang="de-DE" sz="1050" dirty="0" err="1"/>
                        <a:t>Multikey</a:t>
                      </a:r>
                      <a:r>
                        <a:rPr lang="de-DE" sz="1050" dirty="0"/>
                        <a:t>-Index</a:t>
                      </a:r>
                      <a:endParaRPr lang="de-DE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Generierte Spalten bzw. funktionale Indizes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44454"/>
                  </a:ext>
                </a:extLst>
              </a:tr>
              <a:tr h="7406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b="1" u="none" strike="noStrike" dirty="0">
                          <a:effectLst/>
                        </a:rPr>
                        <a:t>Updates</a:t>
                      </a:r>
                      <a:endParaRPr lang="de-DE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JSON_TRANSFORM und weitere JSON-Funktionen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>
                          <a:effectLst/>
                        </a:rPr>
                        <a:t>Operatoren wie $set</a:t>
                      </a:r>
                      <a:endParaRPr lang="de-DE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050" u="none" strike="noStrike" dirty="0">
                          <a:effectLst/>
                        </a:rPr>
                        <a:t>Funktionen wie JSON_SET()</a:t>
                      </a:r>
                      <a:endParaRPr lang="de-DE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35" marR="6035" marT="603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60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36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tion-7">
            <a:extLst>
              <a:ext uri="{FF2B5EF4-FFF2-40B4-BE49-F238E27FC236}">
                <a16:creationId xmlns:a16="http://schemas.microsoft.com/office/drawing/2014/main" id="{F97231E2-BC79-4475-824E-A561088FE4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665936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INDEXIERUNG</a:t>
            </a:r>
          </a:p>
        </p:txBody>
      </p:sp>
      <p:sp>
        <p:nvSpPr>
          <p:cNvPr id="3" name="accent-7">
            <a:extLst>
              <a:ext uri="{FF2B5EF4-FFF2-40B4-BE49-F238E27FC236}">
                <a16:creationId xmlns:a16="http://schemas.microsoft.com/office/drawing/2014/main" id="{3ED60725-C875-4112-B2CC-BB0E041C49E6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7">
            <a:extLst>
              <a:ext uri="{FF2B5EF4-FFF2-40B4-BE49-F238E27FC236}">
                <a16:creationId xmlns:a16="http://schemas.microsoft.com/office/drawing/2014/main" id="{2F660D0E-6857-4F32-A654-FFE72D917E8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Benchmark-Skript; Kalmbach (2026), Kap. 3 und 4.9</a:t>
            </a:r>
          </a:p>
        </p:txBody>
      </p:sp>
      <p:sp>
        <p:nvSpPr>
          <p:cNvPr id="5" name="page-7">
            <a:extLst>
              <a:ext uri="{FF2B5EF4-FFF2-40B4-BE49-F238E27FC236}">
                <a16:creationId xmlns:a16="http://schemas.microsoft.com/office/drawing/2014/main" id="{D40F92C6-FAA0-4643-84BA-4691FE689761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A2A6013-3236-43F5-84B0-7267A25E7246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3429000" cy="76200"/>
          </a:xfrm>
          <a:prstGeom prst="rect">
            <a:avLst/>
          </a:prstGeom>
          <a:solidFill>
            <a:srgbClr val="00A35C"/>
          </a:solidFill>
          <a:ln w="0">
            <a:solidFill>
              <a:srgbClr val="00A3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82641BA-2D6D-4A88-8F48-52A4B7BBB854}"/>
              </a:ext>
            </a:extLst>
          </p:cNvPr>
          <p:cNvSpPr>
            <a:spLocks noGrp="1"/>
          </p:cNvSpPr>
          <p:nvPr/>
        </p:nvSpPr>
        <p:spPr>
          <a:xfrm>
            <a:off x="400050" y="199072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t>MongoDB</a:t>
            </a:r>
          </a:p>
        </p:txBody>
      </p:sp>
      <p:sp>
        <p:nvSpPr>
          <p:cNvPr id="8" name="index-code-bg-0">
            <a:extLst>
              <a:ext uri="{FF2B5EF4-FFF2-40B4-BE49-F238E27FC236}">
                <a16:creationId xmlns:a16="http://schemas.microsoft.com/office/drawing/2014/main" id="{2312E8D4-9F1D-4CC7-A400-4D70AE689822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3429000" cy="933450"/>
          </a:xfrm>
          <a:prstGeom prst="rect">
            <a:avLst/>
          </a:prstGeom>
          <a:solidFill>
            <a:srgbClr val="111317"/>
          </a:solidFill>
          <a:ln w="0">
            <a:solidFill>
              <a:srgbClr val="11131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index-code-0">
            <a:extLst>
              <a:ext uri="{FF2B5EF4-FFF2-40B4-BE49-F238E27FC236}">
                <a16:creationId xmlns:a16="http://schemas.microsoft.com/office/drawing/2014/main" id="{F7679111-117B-4176-BFE9-C83E8884809B}"/>
              </a:ext>
            </a:extLst>
          </p:cNvPr>
          <p:cNvSpPr>
            <a:spLocks noGrp="1"/>
          </p:cNvSpPr>
          <p:nvPr/>
        </p:nvSpPr>
        <p:spPr>
          <a:xfrm>
            <a:off x="571500" y="2819400"/>
            <a:ext cx="3086100" cy="647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create_index("status")</a:t>
            </a:r>
          </a:p>
        </p:txBody>
      </p:sp>
      <p:sp>
        <p:nvSpPr>
          <p:cNvPr id="10" name="index-body-0">
            <a:extLst>
              <a:ext uri="{FF2B5EF4-FFF2-40B4-BE49-F238E27FC236}">
                <a16:creationId xmlns:a16="http://schemas.microsoft.com/office/drawing/2014/main" id="{2340B67E-0977-4D60-8243-537E71EDC6E3}"/>
              </a:ext>
            </a:extLst>
          </p:cNvPr>
          <p:cNvSpPr>
            <a:spLocks noGrp="1"/>
          </p:cNvSpPr>
          <p:nvPr/>
        </p:nvSpPr>
        <p:spPr>
          <a:xfrm>
            <a:off x="400050" y="3886200"/>
            <a:ext cx="3429000" cy="1466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Direkter Single-Field-Index auf dem JSON-Pfad. Der Array-Pfad positionen.artikelnummer wird automatisch zum Multikey-Index.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2E10898-22EE-42DD-98F1-32A9FE3691AE}"/>
              </a:ext>
            </a:extLst>
          </p:cNvPr>
          <p:cNvSpPr>
            <a:spLocks noGrp="1"/>
          </p:cNvSpPr>
          <p:nvPr/>
        </p:nvSpPr>
        <p:spPr>
          <a:xfrm>
            <a:off x="4305300" y="1752600"/>
            <a:ext cx="3429000" cy="76200"/>
          </a:xfrm>
          <a:prstGeom prst="rect">
            <a:avLst/>
          </a:prstGeom>
          <a:solidFill>
            <a:srgbClr val="00758F"/>
          </a:solidFill>
          <a:ln w="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28C4116-F15D-49B7-8170-DA108E8C5B55}"/>
              </a:ext>
            </a:extLst>
          </p:cNvPr>
          <p:cNvSpPr>
            <a:spLocks noGrp="1"/>
          </p:cNvSpPr>
          <p:nvPr/>
        </p:nvSpPr>
        <p:spPr>
          <a:xfrm>
            <a:off x="4305300" y="199072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758F"/>
                </a:solidFill>
                <a:latin typeface="Helvetica Neue"/>
                <a:ea typeface="Helvetica Neue"/>
                <a:cs typeface="Helvetica Neue"/>
              </a:defRPr>
            </a:pPr>
            <a:r>
              <a:t>MySQL</a:t>
            </a:r>
          </a:p>
        </p:txBody>
      </p:sp>
      <p:sp>
        <p:nvSpPr>
          <p:cNvPr id="13" name="index-code-bg-1">
            <a:extLst>
              <a:ext uri="{FF2B5EF4-FFF2-40B4-BE49-F238E27FC236}">
                <a16:creationId xmlns:a16="http://schemas.microsoft.com/office/drawing/2014/main" id="{CD0E3D90-ACBA-4AD1-B133-AE7735AF8C4E}"/>
              </a:ext>
            </a:extLst>
          </p:cNvPr>
          <p:cNvSpPr>
            <a:spLocks noGrp="1"/>
          </p:cNvSpPr>
          <p:nvPr/>
        </p:nvSpPr>
        <p:spPr>
          <a:xfrm>
            <a:off x="4305300" y="2667000"/>
            <a:ext cx="3429000" cy="933450"/>
          </a:xfrm>
          <a:prstGeom prst="rect">
            <a:avLst/>
          </a:prstGeom>
          <a:solidFill>
            <a:srgbClr val="111317"/>
          </a:solidFill>
          <a:ln w="0">
            <a:solidFill>
              <a:srgbClr val="11131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index-code-1">
            <a:extLst>
              <a:ext uri="{FF2B5EF4-FFF2-40B4-BE49-F238E27FC236}">
                <a16:creationId xmlns:a16="http://schemas.microsoft.com/office/drawing/2014/main" id="{7C4C01BA-F852-4EF3-AC6A-EF75179C4141}"/>
              </a:ext>
            </a:extLst>
          </p:cNvPr>
          <p:cNvSpPr>
            <a:spLocks noGrp="1"/>
          </p:cNvSpPr>
          <p:nvPr/>
        </p:nvSpPr>
        <p:spPr>
          <a:xfrm>
            <a:off x="4476750" y="2819400"/>
            <a:ext cx="3086100" cy="647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INDEX idx_status
(status_gen)</a:t>
            </a:r>
          </a:p>
        </p:txBody>
      </p:sp>
      <p:sp>
        <p:nvSpPr>
          <p:cNvPr id="15" name="index-body-1">
            <a:extLst>
              <a:ext uri="{FF2B5EF4-FFF2-40B4-BE49-F238E27FC236}">
                <a16:creationId xmlns:a16="http://schemas.microsoft.com/office/drawing/2014/main" id="{2B3F9FDE-CEA1-4936-965F-920F96E88D51}"/>
              </a:ext>
            </a:extLst>
          </p:cNvPr>
          <p:cNvSpPr>
            <a:spLocks noGrp="1"/>
          </p:cNvSpPr>
          <p:nvPr/>
        </p:nvSpPr>
        <p:spPr>
          <a:xfrm>
            <a:off x="4305300" y="3886200"/>
            <a:ext cx="3429000" cy="1466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STORED Generated Column extrahiert den Wert. Darauf liegt ein normaler sekundaerer B-Tree-Index; kein Array-Index.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48B8E27-19E1-4085-A85C-EC7083A4AC77}"/>
              </a:ext>
            </a:extLst>
          </p:cNvPr>
          <p:cNvSpPr>
            <a:spLocks noGrp="1"/>
          </p:cNvSpPr>
          <p:nvPr/>
        </p:nvSpPr>
        <p:spPr>
          <a:xfrm>
            <a:off x="8210550" y="1752600"/>
            <a:ext cx="34290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A30B579-D8E4-4BBA-9B03-A6C9271B6BE0}"/>
              </a:ext>
            </a:extLst>
          </p:cNvPr>
          <p:cNvSpPr>
            <a:spLocks noGrp="1"/>
          </p:cNvSpPr>
          <p:nvPr/>
        </p:nvSpPr>
        <p:spPr>
          <a:xfrm>
            <a:off x="8210550" y="199072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t>OracleDB</a:t>
            </a:r>
          </a:p>
        </p:txBody>
      </p:sp>
      <p:sp>
        <p:nvSpPr>
          <p:cNvPr id="18" name="index-code-bg-2">
            <a:extLst>
              <a:ext uri="{FF2B5EF4-FFF2-40B4-BE49-F238E27FC236}">
                <a16:creationId xmlns:a16="http://schemas.microsoft.com/office/drawing/2014/main" id="{4E2AC039-0D4D-4D49-937A-76422D7153D0}"/>
              </a:ext>
            </a:extLst>
          </p:cNvPr>
          <p:cNvSpPr>
            <a:spLocks noGrp="1"/>
          </p:cNvSpPr>
          <p:nvPr/>
        </p:nvSpPr>
        <p:spPr>
          <a:xfrm>
            <a:off x="8210550" y="2667000"/>
            <a:ext cx="3429000" cy="933450"/>
          </a:xfrm>
          <a:prstGeom prst="rect">
            <a:avLst/>
          </a:prstGeom>
          <a:solidFill>
            <a:srgbClr val="111317"/>
          </a:solidFill>
          <a:ln w="0">
            <a:solidFill>
              <a:srgbClr val="11131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index-code-2">
            <a:extLst>
              <a:ext uri="{FF2B5EF4-FFF2-40B4-BE49-F238E27FC236}">
                <a16:creationId xmlns:a16="http://schemas.microsoft.com/office/drawing/2014/main" id="{659E48CC-951F-4835-B585-21360B51B5CF}"/>
              </a:ext>
            </a:extLst>
          </p:cNvPr>
          <p:cNvSpPr>
            <a:spLocks noGrp="1"/>
          </p:cNvSpPr>
          <p:nvPr/>
        </p:nvSpPr>
        <p:spPr>
          <a:xfrm>
            <a:off x="8382000" y="2819400"/>
            <a:ext cx="3086100" cy="647700"/>
          </a:xfrm>
          <a:prstGeom prst="rect">
            <a:avLst/>
          </a:prstGeom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buNone/>
              <a:defRPr sz="142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INDEX ...
JSON_VALUE(daten, '$.status')</a:t>
            </a:r>
          </a:p>
        </p:txBody>
      </p:sp>
      <p:sp>
        <p:nvSpPr>
          <p:cNvPr id="20" name="index-body-2">
            <a:extLst>
              <a:ext uri="{FF2B5EF4-FFF2-40B4-BE49-F238E27FC236}">
                <a16:creationId xmlns:a16="http://schemas.microsoft.com/office/drawing/2014/main" id="{0A45E6DE-49E8-459B-9D6A-30FBFC6971B6}"/>
              </a:ext>
            </a:extLst>
          </p:cNvPr>
          <p:cNvSpPr>
            <a:spLocks noGrp="1"/>
          </p:cNvSpPr>
          <p:nvPr/>
        </p:nvSpPr>
        <p:spPr>
          <a:xfrm>
            <a:off x="8210550" y="3886200"/>
            <a:ext cx="3429000" cy="1466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Funktionsbasierter B-Tree speichert das Ergebnis von JSON_VALUE; kein Array-Index.</a:t>
            </a:r>
          </a:p>
        </p:txBody>
      </p:sp>
      <p:sp>
        <p:nvSpPr>
          <p:cNvPr id="21" name="index-comparison">
            <a:extLst>
              <a:ext uri="{FF2B5EF4-FFF2-40B4-BE49-F238E27FC236}">
                <a16:creationId xmlns:a16="http://schemas.microsoft.com/office/drawing/2014/main" id="{E58E78FC-D23F-423E-802E-3832A8117EFD}"/>
              </a:ext>
            </a:extLst>
          </p:cNvPr>
          <p:cNvSpPr>
            <a:spLocks noGrp="1"/>
          </p:cNvSpPr>
          <p:nvPr/>
        </p:nvSpPr>
        <p:spPr>
          <a:xfrm>
            <a:off x="400050" y="5514975"/>
            <a:ext cx="11391900" cy="6286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index-comparison-copy">
            <a:extLst>
              <a:ext uri="{FF2B5EF4-FFF2-40B4-BE49-F238E27FC236}">
                <a16:creationId xmlns:a16="http://schemas.microsoft.com/office/drawing/2014/main" id="{4A973B1D-17DF-48C5-9935-B1DF1CBFB951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400050"/>
          </a:xfrm>
          <a:prstGeom prst="rect">
            <a:avLst/>
          </a:prstGeom>
        </p:spPr>
        <p:txBody>
          <a:bodyPr wrap="square" lIns="0" tIns="0" rIns="0" bIns="0" anchor="ctr">
            <a:normAutofit fontScale="88820" lnSpcReduction="20000"/>
          </a:bodyPr>
          <a:lstStyle/>
          <a:p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Vergleichbar im Zweck: status, land und bestellnummer beschleunigen. Technisch nicht identisch; die Array-Suche ist nur bei MongoDB indexiert.</a:t>
            </a:r>
          </a:p>
        </p:txBody>
      </p:sp>
    </p:spTree>
    <p:extLst>
      <p:ext uri="{BB962C8B-B14F-4D97-AF65-F5344CB8AC3E}">
        <p14:creationId xmlns:p14="http://schemas.microsoft.com/office/powerpoint/2010/main" val="51467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8">
            <a:extLst>
              <a:ext uri="{FF2B5EF4-FFF2-40B4-BE49-F238E27FC236}">
                <a16:creationId xmlns:a16="http://schemas.microsoft.com/office/drawing/2014/main" id="{95758DB4-CD70-48DB-ABF3-AF380C1F8A79}"/>
              </a:ext>
            </a:extLst>
          </p:cNvPr>
          <p:cNvSpPr>
            <a:spLocks noGrp="1"/>
          </p:cNvSpPr>
          <p:nvPr/>
        </p:nvSpPr>
        <p:spPr>
          <a:xfrm>
            <a:off x="400049" y="266700"/>
            <a:ext cx="4571343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BENCHMARK-DESIGN</a:t>
            </a:r>
          </a:p>
        </p:txBody>
      </p:sp>
      <p:sp>
        <p:nvSpPr>
          <p:cNvPr id="3" name="accent-8">
            <a:extLst>
              <a:ext uri="{FF2B5EF4-FFF2-40B4-BE49-F238E27FC236}">
                <a16:creationId xmlns:a16="http://schemas.microsoft.com/office/drawing/2014/main" id="{B8FDC164-C050-4A6D-A24D-3354749411AF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8">
            <a:extLst>
              <a:ext uri="{FF2B5EF4-FFF2-40B4-BE49-F238E27FC236}">
                <a16:creationId xmlns:a16="http://schemas.microsoft.com/office/drawing/2014/main" id="{04ADDC7A-8F54-44C6-A97D-FA1CEDB39A2F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Kap. 4.5 bis 4.8 und Anhang D</a:t>
            </a:r>
          </a:p>
        </p:txBody>
      </p:sp>
      <p:sp>
        <p:nvSpPr>
          <p:cNvPr id="5" name="page-8">
            <a:extLst>
              <a:ext uri="{FF2B5EF4-FFF2-40B4-BE49-F238E27FC236}">
                <a16:creationId xmlns:a16="http://schemas.microsoft.com/office/drawing/2014/main" id="{D17C21AB-51B9-4D7F-989B-81E500338DF4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6" name="sample-json-backing">
            <a:extLst>
              <a:ext uri="{FF2B5EF4-FFF2-40B4-BE49-F238E27FC236}">
                <a16:creationId xmlns:a16="http://schemas.microsoft.com/office/drawing/2014/main" id="{F330E9FD-E862-4926-BD59-A941C5734877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5238750" cy="3829050"/>
          </a:xfrm>
          <a:prstGeom prst="rect">
            <a:avLst/>
          </a:prstGeom>
          <a:solidFill>
            <a:srgbClr val="111317"/>
          </a:solidFill>
          <a:ln w="9525">
            <a:solidFill>
              <a:srgbClr val="3034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ample-json">
            <a:extLst>
              <a:ext uri="{FF2B5EF4-FFF2-40B4-BE49-F238E27FC236}">
                <a16:creationId xmlns:a16="http://schemas.microsoft.com/office/drawing/2014/main" id="{D4334685-03F2-4DE1-A44B-5DBE66B661F7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4781550" cy="3448050"/>
          </a:xfrm>
          <a:prstGeom prst="rect">
            <a:avLst/>
          </a:prstGeom>
        </p:spPr>
        <p:txBody>
          <a:bodyPr wrap="square" lIns="0" tIns="0" rIns="0" bIns="0" anchor="t">
            <a:normAutofit fontScale="77500" lnSpcReduction="20000"/>
          </a:bodyPr>
          <a:lstStyle/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{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"</a:t>
            </a:r>
            <a:r>
              <a:rPr lang="de-DE" dirty="0" err="1"/>
              <a:t>bestellnummer</a:t>
            </a:r>
            <a:r>
              <a:rPr lang="de-DE" dirty="0"/>
              <a:t>": "B-000002",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"</a:t>
            </a:r>
            <a:r>
              <a:rPr lang="de-DE" dirty="0" err="1"/>
              <a:t>status</a:t>
            </a:r>
            <a:r>
              <a:rPr lang="de-DE" dirty="0"/>
              <a:t>": "offen",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"</a:t>
            </a:r>
            <a:r>
              <a:rPr lang="de-DE" dirty="0" err="1"/>
              <a:t>kunde</a:t>
            </a:r>
            <a:r>
              <a:rPr lang="de-DE" dirty="0"/>
              <a:t>": {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"</a:t>
            </a:r>
            <a:r>
              <a:rPr lang="de-DE" dirty="0" err="1"/>
              <a:t>kundennummer</a:t>
            </a:r>
            <a:r>
              <a:rPr lang="de-DE" dirty="0"/>
              <a:t>": "K-10002",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"</a:t>
            </a:r>
            <a:r>
              <a:rPr lang="de-DE" dirty="0" err="1"/>
              <a:t>name</a:t>
            </a:r>
            <a:r>
              <a:rPr lang="de-DE" dirty="0"/>
              <a:t>": "Kunde 2",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"</a:t>
            </a:r>
            <a:r>
              <a:rPr lang="de-DE" dirty="0" err="1"/>
              <a:t>land</a:t>
            </a:r>
            <a:r>
              <a:rPr lang="de-DE" dirty="0"/>
              <a:t>": "US"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},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"</a:t>
            </a:r>
            <a:r>
              <a:rPr lang="de-DE" dirty="0" err="1"/>
              <a:t>positionen</a:t>
            </a:r>
            <a:r>
              <a:rPr lang="de-DE" dirty="0"/>
              <a:t>": [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{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  "</a:t>
            </a:r>
            <a:r>
              <a:rPr lang="de-DE" dirty="0" err="1"/>
              <a:t>artikelnummer</a:t>
            </a:r>
            <a:r>
              <a:rPr lang="de-DE" dirty="0"/>
              <a:t>": "A-300",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  "menge": 3,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  "preis": 11.5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},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{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  "</a:t>
            </a:r>
            <a:r>
              <a:rPr lang="de-DE" dirty="0" err="1"/>
              <a:t>artikelnummer</a:t>
            </a:r>
            <a:r>
              <a:rPr lang="de-DE" dirty="0"/>
              <a:t>": "A-500",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  "menge": 4,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  "preis": 6.0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  }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],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"</a:t>
            </a:r>
            <a:r>
              <a:rPr lang="de-DE" dirty="0" err="1"/>
              <a:t>zahlungsart</a:t>
            </a:r>
            <a:r>
              <a:rPr lang="de-DE" dirty="0"/>
              <a:t>": "PayPal",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  "</a:t>
            </a:r>
            <a:r>
              <a:rPr lang="de-DE" dirty="0" err="1"/>
              <a:t>erstelltAm</a:t>
            </a:r>
            <a:r>
              <a:rPr lang="de-DE" dirty="0"/>
              <a:t>": "2026-05-03"</a:t>
            </a:r>
          </a:p>
          <a:p>
            <a:pPr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lang="de-DE" dirty="0"/>
              <a:t>}</a:t>
            </a:r>
            <a:endParaRPr dirty="0"/>
          </a:p>
        </p:txBody>
      </p:sp>
      <p:sp>
        <p:nvSpPr>
          <p:cNvPr id="8" name="metric-docs">
            <a:extLst>
              <a:ext uri="{FF2B5EF4-FFF2-40B4-BE49-F238E27FC236}">
                <a16:creationId xmlns:a16="http://schemas.microsoft.com/office/drawing/2014/main" id="{0002B8FC-7104-4562-A478-977C6EF464F7}"/>
              </a:ext>
            </a:extLst>
          </p:cNvPr>
          <p:cNvSpPr>
            <a:spLocks noGrp="1"/>
          </p:cNvSpPr>
          <p:nvPr/>
        </p:nvSpPr>
        <p:spPr>
          <a:xfrm>
            <a:off x="6191250" y="1733550"/>
            <a:ext cx="20955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10.000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7427082-F1F2-41C2-B4F2-5F6EF45ADD14}"/>
              </a:ext>
            </a:extLst>
          </p:cNvPr>
          <p:cNvSpPr>
            <a:spLocks noGrp="1"/>
          </p:cNvSpPr>
          <p:nvPr/>
        </p:nvSpPr>
        <p:spPr>
          <a:xfrm>
            <a:off x="6191250" y="2352675"/>
            <a:ext cx="2857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synthetische Bestellungen</a:t>
            </a:r>
          </a:p>
        </p:txBody>
      </p:sp>
      <p:sp>
        <p:nvSpPr>
          <p:cNvPr id="10" name="metric-ops">
            <a:extLst>
              <a:ext uri="{FF2B5EF4-FFF2-40B4-BE49-F238E27FC236}">
                <a16:creationId xmlns:a16="http://schemas.microsoft.com/office/drawing/2014/main" id="{C1D490CA-49FD-407E-9771-1096A2C1F31E}"/>
              </a:ext>
            </a:extLst>
          </p:cNvPr>
          <p:cNvSpPr>
            <a:spLocks noGrp="1"/>
          </p:cNvSpPr>
          <p:nvPr/>
        </p:nvSpPr>
        <p:spPr>
          <a:xfrm>
            <a:off x="6191250" y="3019425"/>
            <a:ext cx="9525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B7B4AAD-F440-46A6-8674-52F68D970588}"/>
              </a:ext>
            </a:extLst>
          </p:cNvPr>
          <p:cNvSpPr>
            <a:spLocks noGrp="1"/>
          </p:cNvSpPr>
          <p:nvPr/>
        </p:nvSpPr>
        <p:spPr>
          <a:xfrm>
            <a:off x="6191250" y="3638550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Operationen</a:t>
            </a:r>
          </a:p>
        </p:txBody>
      </p:sp>
      <p:sp>
        <p:nvSpPr>
          <p:cNvPr id="12" name="ops-list">
            <a:extLst>
              <a:ext uri="{FF2B5EF4-FFF2-40B4-BE49-F238E27FC236}">
                <a16:creationId xmlns:a16="http://schemas.microsoft.com/office/drawing/2014/main" id="{0607414B-2489-43E2-B43E-98705320392A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504825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Insert · Top-Level · verschachtelt · Array · Update</a:t>
            </a:r>
          </a:p>
        </p:txBody>
      </p:sp>
      <p:sp>
        <p:nvSpPr>
          <p:cNvPr id="13" name="metric-runs">
            <a:extLst>
              <a:ext uri="{FF2B5EF4-FFF2-40B4-BE49-F238E27FC236}">
                <a16:creationId xmlns:a16="http://schemas.microsoft.com/office/drawing/2014/main" id="{CFB8E4FE-46D7-4DCF-A0E2-EACC945F0A81}"/>
              </a:ext>
            </a:extLst>
          </p:cNvPr>
          <p:cNvSpPr>
            <a:spLocks noGrp="1"/>
          </p:cNvSpPr>
          <p:nvPr/>
        </p:nvSpPr>
        <p:spPr>
          <a:xfrm>
            <a:off x="6191250" y="4905375"/>
            <a:ext cx="19050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 + 10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4B21FFB-848B-4B65-86E5-501076E68FCF}"/>
              </a:ext>
            </a:extLst>
          </p:cNvPr>
          <p:cNvSpPr>
            <a:spLocks noGrp="1"/>
          </p:cNvSpPr>
          <p:nvPr/>
        </p:nvSpPr>
        <p:spPr>
          <a:xfrm>
            <a:off x="6191250" y="5524500"/>
            <a:ext cx="2476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Warm-ups + Messläufe</a:t>
            </a:r>
          </a:p>
        </p:txBody>
      </p:sp>
      <p:sp>
        <p:nvSpPr>
          <p:cNvPr id="15" name="modes-panel">
            <a:extLst>
              <a:ext uri="{FF2B5EF4-FFF2-40B4-BE49-F238E27FC236}">
                <a16:creationId xmlns:a16="http://schemas.microsoft.com/office/drawing/2014/main" id="{69ACDE75-451B-4D5A-A746-632307142588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2266950" cy="171450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modes-title">
            <a:extLst>
              <a:ext uri="{FF2B5EF4-FFF2-40B4-BE49-F238E27FC236}">
                <a16:creationId xmlns:a16="http://schemas.microsoft.com/office/drawing/2014/main" id="{7A81110B-74A8-46AD-A096-4BD7520697C9}"/>
              </a:ext>
            </a:extLst>
          </p:cNvPr>
          <p:cNvSpPr>
            <a:spLocks noGrp="1"/>
          </p:cNvSpPr>
          <p:nvPr/>
        </p:nvSpPr>
        <p:spPr>
          <a:xfrm>
            <a:off x="9753600" y="2038350"/>
            <a:ext cx="1809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Modi</a:t>
            </a:r>
          </a:p>
        </p:txBody>
      </p:sp>
      <p:sp>
        <p:nvSpPr>
          <p:cNvPr id="17" name="modes-copy">
            <a:extLst>
              <a:ext uri="{FF2B5EF4-FFF2-40B4-BE49-F238E27FC236}">
                <a16:creationId xmlns:a16="http://schemas.microsoft.com/office/drawing/2014/main" id="{EBA26E65-8310-4AE7-819A-1675772FE67C}"/>
              </a:ext>
            </a:extLst>
          </p:cNvPr>
          <p:cNvSpPr>
            <a:spLocks noGrp="1"/>
          </p:cNvSpPr>
          <p:nvPr/>
        </p:nvSpPr>
        <p:spPr>
          <a:xfrm>
            <a:off x="9753600" y="2647950"/>
            <a:ext cx="18097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ohne Zusatzindex
Basic-Indexierung</a:t>
            </a:r>
          </a:p>
        </p:txBody>
      </p:sp>
    </p:spTree>
    <p:extLst>
      <p:ext uri="{BB962C8B-B14F-4D97-AF65-F5344CB8AC3E}">
        <p14:creationId xmlns:p14="http://schemas.microsoft.com/office/powerpoint/2010/main" val="130583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-9">
            <a:extLst>
              <a:ext uri="{FF2B5EF4-FFF2-40B4-BE49-F238E27FC236}">
                <a16:creationId xmlns:a16="http://schemas.microsoft.com/office/drawing/2014/main" id="{38DEF2A8-997B-400A-920F-73D8A296CC4A}"/>
              </a:ext>
            </a:extLst>
          </p:cNvPr>
          <p:cNvSpPr>
            <a:spLocks noGrp="1"/>
          </p:cNvSpPr>
          <p:nvPr/>
        </p:nvSpPr>
        <p:spPr>
          <a:xfrm>
            <a:off x="400049" y="266700"/>
            <a:ext cx="4824577" cy="643102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RESULTAT: OHNE INDEX</a:t>
            </a:r>
          </a:p>
        </p:txBody>
      </p:sp>
      <p:sp>
        <p:nvSpPr>
          <p:cNvPr id="3" name="accent-9">
            <a:extLst>
              <a:ext uri="{FF2B5EF4-FFF2-40B4-BE49-F238E27FC236}">
                <a16:creationId xmlns:a16="http://schemas.microsoft.com/office/drawing/2014/main" id="{3679860B-2197-4D43-A898-492D50AE971F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9">
            <a:extLst>
              <a:ext uri="{FF2B5EF4-FFF2-40B4-BE49-F238E27FC236}">
                <a16:creationId xmlns:a16="http://schemas.microsoft.com/office/drawing/2014/main" id="{D5F4DE4B-E52D-4025-B592-892BE56A11A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Tab. 4 und Abb. 13; Durchschnittswerte</a:t>
            </a:r>
          </a:p>
        </p:txBody>
      </p:sp>
      <p:sp>
        <p:nvSpPr>
          <p:cNvPr id="5" name="page-9">
            <a:extLst>
              <a:ext uri="{FF2B5EF4-FFF2-40B4-BE49-F238E27FC236}">
                <a16:creationId xmlns:a16="http://schemas.microsoft.com/office/drawing/2014/main" id="{2F7F904D-0677-4EF3-BE4A-F4EF1844876B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6" name="insert-chart-heading">
            <a:extLst>
              <a:ext uri="{FF2B5EF4-FFF2-40B4-BE49-F238E27FC236}">
                <a16:creationId xmlns:a16="http://schemas.microsoft.com/office/drawing/2014/main" id="{9AAAACD8-4F55-4FE6-B5BA-4FCBF22D35E3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Insert</a:t>
            </a:r>
          </a:p>
        </p:txBody>
      </p:sp>
      <p:sp>
        <p:nvSpPr>
          <p:cNvPr id="7" name="operations-chart-heading">
            <a:extLst>
              <a:ext uri="{FF2B5EF4-FFF2-40B4-BE49-F238E27FC236}">
                <a16:creationId xmlns:a16="http://schemas.microsoft.com/office/drawing/2014/main" id="{70CC9507-7458-4A02-B705-2384D8C3029E}"/>
              </a:ext>
            </a:extLst>
          </p:cNvPr>
          <p:cNvSpPr>
            <a:spLocks noGrp="1"/>
          </p:cNvSpPr>
          <p:nvPr/>
        </p:nvSpPr>
        <p:spPr>
          <a:xfrm>
            <a:off x="4953000" y="1657350"/>
            <a:ext cx="683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Selektionen und Update</a:t>
            </a:r>
          </a:p>
        </p:txBody>
      </p:sp>
      <p:sp>
        <p:nvSpPr>
          <p:cNvPr id="8" name="results-divider">
            <a:extLst>
              <a:ext uri="{FF2B5EF4-FFF2-40B4-BE49-F238E27FC236}">
                <a16:creationId xmlns:a16="http://schemas.microsoft.com/office/drawing/2014/main" id="{2620D795-9198-49FC-A025-77A91E6EFC38}"/>
              </a:ext>
            </a:extLst>
          </p:cNvPr>
          <p:cNvSpPr>
            <a:spLocks noGrp="1"/>
          </p:cNvSpPr>
          <p:nvPr/>
        </p:nvSpPr>
        <p:spPr>
          <a:xfrm>
            <a:off x="4695825" y="1714500"/>
            <a:ext cx="9525" cy="403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20" name="Chart"/>
          <p:cNvGraphicFramePr/>
          <p:nvPr/>
        </p:nvGraphicFramePr>
        <p:xfrm>
          <a:off x="400050" y="1971675"/>
          <a:ext cx="409575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4953000" y="1971675"/>
          <a:ext cx="683895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no-index-chart-note">
            <a:extLst>
              <a:ext uri="{FF2B5EF4-FFF2-40B4-BE49-F238E27FC236}">
                <a16:creationId xmlns:a16="http://schemas.microsoft.com/office/drawing/2014/main" id="{47326726-AC06-43FA-BD60-4D93F6C6F7AC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rPr>
              <a:t>Alle fünf Operationen · Durchschnitt aus zehn Messläufen · niedriger ist besser</a:t>
            </a:r>
          </a:p>
        </p:txBody>
      </p:sp>
    </p:spTree>
    <p:extLst>
      <p:ext uri="{BB962C8B-B14F-4D97-AF65-F5344CB8AC3E}">
        <p14:creationId xmlns:p14="http://schemas.microsoft.com/office/powerpoint/2010/main" val="932871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10">
            <a:extLst>
              <a:ext uri="{FF2B5EF4-FFF2-40B4-BE49-F238E27FC236}">
                <a16:creationId xmlns:a16="http://schemas.microsoft.com/office/drawing/2014/main" id="{B5B31500-5867-4300-8714-46EFB8EF9A2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970736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RESULTAT: INDEXWIRKUNG</a:t>
            </a:r>
          </a:p>
        </p:txBody>
      </p:sp>
      <p:sp>
        <p:nvSpPr>
          <p:cNvPr id="3" name="accent-10">
            <a:extLst>
              <a:ext uri="{FF2B5EF4-FFF2-40B4-BE49-F238E27FC236}">
                <a16:creationId xmlns:a16="http://schemas.microsoft.com/office/drawing/2014/main" id="{805D9ED1-3635-4D61-ACD1-4A0897FFE6C0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10">
            <a:extLst>
              <a:ext uri="{FF2B5EF4-FFF2-40B4-BE49-F238E27FC236}">
                <a16:creationId xmlns:a16="http://schemas.microsoft.com/office/drawing/2014/main" id="{B655452D-0D3E-4F8A-B66E-381E893E164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eigene Berechnung aus Kalmbach (2026), Tab. 4 und 6</a:t>
            </a:r>
          </a:p>
        </p:txBody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00193D99-B498-4CAC-8347-818D9B007F7A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6" name="delta-subtitle">
            <a:extLst>
              <a:ext uri="{FF2B5EF4-FFF2-40B4-BE49-F238E27FC236}">
                <a16:creationId xmlns:a16="http://schemas.microsoft.com/office/drawing/2014/main" id="{D8C0A876-E3E3-4797-8CE6-9D1C4FC01E97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rPr>
              <a:t>Laufzeitänderung durch Basic-Indexierung in Prozent</a:t>
            </a:r>
          </a:p>
        </p:txBody>
      </p:sp>
      <p:sp>
        <p:nvSpPr>
          <p:cNvPr id="7" name="faster-label">
            <a:extLst>
              <a:ext uri="{FF2B5EF4-FFF2-40B4-BE49-F238E27FC236}">
                <a16:creationId xmlns:a16="http://schemas.microsoft.com/office/drawing/2014/main" id="{BF07044B-7C6E-4D64-BF31-6FE71782CD91}"/>
              </a:ext>
            </a:extLst>
          </p:cNvPr>
          <p:cNvSpPr>
            <a:spLocks noGrp="1"/>
          </p:cNvSpPr>
          <p:nvPr/>
        </p:nvSpPr>
        <p:spPr>
          <a:xfrm>
            <a:off x="8858250" y="16954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A35C"/>
                </a:solidFill>
                <a:latin typeface="Helvetica Neue"/>
                <a:ea typeface="Helvetica Neue"/>
                <a:cs typeface="Helvetica Neue"/>
              </a:rPr>
              <a:t>− schneller</a:t>
            </a:r>
          </a:p>
        </p:txBody>
      </p:sp>
      <p:sp>
        <p:nvSpPr>
          <p:cNvPr id="8" name="slower-label">
            <a:extLst>
              <a:ext uri="{FF2B5EF4-FFF2-40B4-BE49-F238E27FC236}">
                <a16:creationId xmlns:a16="http://schemas.microsoft.com/office/drawing/2014/main" id="{8DC8F52F-0D76-44B5-80BD-AB2F585C60AC}"/>
              </a:ext>
            </a:extLst>
          </p:cNvPr>
          <p:cNvSpPr>
            <a:spLocks noGrp="1"/>
          </p:cNvSpPr>
          <p:nvPr/>
        </p:nvSpPr>
        <p:spPr>
          <a:xfrm>
            <a:off x="10191750" y="16954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C74634"/>
                </a:solidFill>
                <a:latin typeface="Helvetica Neue"/>
                <a:ea typeface="Helvetica Neue"/>
                <a:cs typeface="Helvetica Neue"/>
              </a:rPr>
              <a:t>+ langsamer</a:t>
            </a:r>
          </a:p>
        </p:txBody>
      </p:sp>
      <p:sp>
        <p:nvSpPr>
          <p:cNvPr id="9" name="delta-accent-OracleDB">
            <a:extLst>
              <a:ext uri="{FF2B5EF4-FFF2-40B4-BE49-F238E27FC236}">
                <a16:creationId xmlns:a16="http://schemas.microsoft.com/office/drawing/2014/main" id="{BA543102-BF7E-45F8-AEF8-D4429837295F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342900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delta-heading-OracleDB">
            <a:extLst>
              <a:ext uri="{FF2B5EF4-FFF2-40B4-BE49-F238E27FC236}">
                <a16:creationId xmlns:a16="http://schemas.microsoft.com/office/drawing/2014/main" id="{B95DD189-2E41-4510-A36C-A0A6D7110A2F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C74634"/>
                </a:solidFill>
                <a:latin typeface="Helvetica Neue"/>
                <a:ea typeface="Helvetica Neue"/>
                <a:cs typeface="Helvetica Neue"/>
              </a:rPr>
              <a:t>OracleDB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400050" y="2609850"/>
          <a:ext cx="342900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delta-accent-MongoDB">
            <a:extLst>
              <a:ext uri="{FF2B5EF4-FFF2-40B4-BE49-F238E27FC236}">
                <a16:creationId xmlns:a16="http://schemas.microsoft.com/office/drawing/2014/main" id="{8D817F5C-E849-446E-9FD4-69B84F647751}"/>
              </a:ext>
            </a:extLst>
          </p:cNvPr>
          <p:cNvSpPr>
            <a:spLocks noGrp="1"/>
          </p:cNvSpPr>
          <p:nvPr/>
        </p:nvSpPr>
        <p:spPr>
          <a:xfrm>
            <a:off x="4305300" y="2057400"/>
            <a:ext cx="3429000" cy="66675"/>
          </a:xfrm>
          <a:prstGeom prst="rect">
            <a:avLst/>
          </a:prstGeom>
          <a:solidFill>
            <a:srgbClr val="00A35C"/>
          </a:solidFill>
          <a:ln w="0">
            <a:solidFill>
              <a:srgbClr val="00A3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delta-heading-MongoDB">
            <a:extLst>
              <a:ext uri="{FF2B5EF4-FFF2-40B4-BE49-F238E27FC236}">
                <a16:creationId xmlns:a16="http://schemas.microsoft.com/office/drawing/2014/main" id="{B905207E-6A72-4D39-ACC8-31E2716F1A49}"/>
              </a:ext>
            </a:extLst>
          </p:cNvPr>
          <p:cNvSpPr>
            <a:spLocks noGrp="1"/>
          </p:cNvSpPr>
          <p:nvPr/>
        </p:nvSpPr>
        <p:spPr>
          <a:xfrm>
            <a:off x="4305300" y="22383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00A35C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4305300" y="2609850"/>
          <a:ext cx="342900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delta-accent-MySQL">
            <a:extLst>
              <a:ext uri="{FF2B5EF4-FFF2-40B4-BE49-F238E27FC236}">
                <a16:creationId xmlns:a16="http://schemas.microsoft.com/office/drawing/2014/main" id="{E86B5EB9-D396-4640-9A37-776DA322EFE4}"/>
              </a:ext>
            </a:extLst>
          </p:cNvPr>
          <p:cNvSpPr>
            <a:spLocks noGrp="1"/>
          </p:cNvSpPr>
          <p:nvPr/>
        </p:nvSpPr>
        <p:spPr>
          <a:xfrm>
            <a:off x="8210550" y="2057400"/>
            <a:ext cx="3429000" cy="66675"/>
          </a:xfrm>
          <a:prstGeom prst="rect">
            <a:avLst/>
          </a:prstGeom>
          <a:solidFill>
            <a:srgbClr val="00758F"/>
          </a:solidFill>
          <a:ln w="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delta-heading-MySQL">
            <a:extLst>
              <a:ext uri="{FF2B5EF4-FFF2-40B4-BE49-F238E27FC236}">
                <a16:creationId xmlns:a16="http://schemas.microsoft.com/office/drawing/2014/main" id="{1DBA2405-72BE-45A9-A508-379CB818B6D8}"/>
              </a:ext>
            </a:extLst>
          </p:cNvPr>
          <p:cNvSpPr>
            <a:spLocks noGrp="1"/>
          </p:cNvSpPr>
          <p:nvPr/>
        </p:nvSpPr>
        <p:spPr>
          <a:xfrm>
            <a:off x="8210550" y="22383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>
                <a:solidFill>
                  <a:srgbClr val="00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00758F"/>
                </a:solidFill>
                <a:latin typeface="Helvetica Neue"/>
                <a:ea typeface="Helvetica Neue"/>
                <a:cs typeface="Helvetica Neue"/>
              </a:rPr>
              <a:t>MySQL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8210550" y="2609850"/>
          <a:ext cx="342900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delta-method-note-bg">
            <a:extLst>
              <a:ext uri="{FF2B5EF4-FFF2-40B4-BE49-F238E27FC236}">
                <a16:creationId xmlns:a16="http://schemas.microsoft.com/office/drawing/2014/main" id="{81DBC76C-BAEC-40B3-9798-DC3384354583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11391900" cy="485775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delta-method-note">
            <a:extLst>
              <a:ext uri="{FF2B5EF4-FFF2-40B4-BE49-F238E27FC236}">
                <a16:creationId xmlns:a16="http://schemas.microsoft.com/office/drawing/2014/main" id="{50E9E13F-5CA2-4F02-AF18-0EF750DC11E0}"/>
              </a:ext>
            </a:extLst>
          </p:cNvPr>
          <p:cNvSpPr>
            <a:spLocks noGrp="1"/>
          </p:cNvSpPr>
          <p:nvPr/>
        </p:nvSpPr>
        <p:spPr>
          <a:xfrm>
            <a:off x="552450" y="5772150"/>
            <a:ext cx="11087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176"/>
          </a:bodyPr>
          <a:lstStyle/>
          <a:p>
            <a:pPr algn="l"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Negativ = schneller, positiv = langsamer. MongoDB-Insert enthält zusätzlich die Indexerstellung; ein Array-Index wurde nur bei MongoDB verwendet.</a:t>
            </a:r>
          </a:p>
        </p:txBody>
      </p:sp>
    </p:spTree>
    <p:extLst>
      <p:ext uri="{BB962C8B-B14F-4D97-AF65-F5344CB8AC3E}">
        <p14:creationId xmlns:p14="http://schemas.microsoft.com/office/powerpoint/2010/main" val="517910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11">
            <a:extLst>
              <a:ext uri="{FF2B5EF4-FFF2-40B4-BE49-F238E27FC236}">
                <a16:creationId xmlns:a16="http://schemas.microsoft.com/office/drawing/2014/main" id="{7C9DD784-CAB9-418A-A72C-40D8A6096C3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655426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BEWERTUNG</a:t>
            </a:r>
          </a:p>
        </p:txBody>
      </p:sp>
      <p:sp>
        <p:nvSpPr>
          <p:cNvPr id="3" name="accent-11">
            <a:extLst>
              <a:ext uri="{FF2B5EF4-FFF2-40B4-BE49-F238E27FC236}">
                <a16:creationId xmlns:a16="http://schemas.microsoft.com/office/drawing/2014/main" id="{9D8B9226-0119-44EF-98DE-0D292A8C014F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11">
            <a:extLst>
              <a:ext uri="{FF2B5EF4-FFF2-40B4-BE49-F238E27FC236}">
                <a16:creationId xmlns:a16="http://schemas.microsoft.com/office/drawing/2014/main" id="{818BC5C2-7EDF-4E61-A47E-D6EF68C35D67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Kap. 4.10 und 5.1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EDBEB6F5-6517-452C-B8C2-610AB5A013DE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4073E8E-DDA1-4ACE-A177-4F620EAA2796}"/>
              </a:ext>
            </a:extLst>
          </p:cNvPr>
          <p:cNvSpPr>
            <a:spLocks noGrp="1"/>
          </p:cNvSpPr>
          <p:nvPr/>
        </p:nvSpPr>
        <p:spPr>
          <a:xfrm>
            <a:off x="400050" y="1771650"/>
            <a:ext cx="3429000" cy="76200"/>
          </a:xfrm>
          <a:prstGeom prst="rect">
            <a:avLst/>
          </a:prstGeom>
          <a:solidFill>
            <a:srgbClr val="00A35C"/>
          </a:solidFill>
          <a:ln w="0">
            <a:solidFill>
              <a:srgbClr val="00A3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FADF2F4-EB66-4726-94CF-658671F83837}"/>
              </a:ext>
            </a:extLst>
          </p:cNvPr>
          <p:cNvSpPr>
            <a:spLocks noGrp="1"/>
          </p:cNvSpPr>
          <p:nvPr/>
        </p:nvSpPr>
        <p:spPr>
          <a:xfrm>
            <a:off x="400050" y="20097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t>MongoDB</a:t>
            </a:r>
          </a:p>
        </p:txBody>
      </p:sp>
      <p:sp>
        <p:nvSpPr>
          <p:cNvPr id="8" name="fit-tag-0">
            <a:extLst>
              <a:ext uri="{FF2B5EF4-FFF2-40B4-BE49-F238E27FC236}">
                <a16:creationId xmlns:a16="http://schemas.microsoft.com/office/drawing/2014/main" id="{F6600326-29FE-4D46-83EA-AEFB2F0B7492}"/>
              </a:ext>
            </a:extLst>
          </p:cNvPr>
          <p:cNvSpPr>
            <a:spLocks noGrp="1"/>
          </p:cNvSpPr>
          <p:nvPr/>
        </p:nvSpPr>
        <p:spPr>
          <a:xfrm>
            <a:off x="400050" y="2819400"/>
            <a:ext cx="3429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Dokument zuerst</a:t>
            </a:r>
          </a:p>
        </p:txBody>
      </p:sp>
      <p:sp>
        <p:nvSpPr>
          <p:cNvPr id="9" name="fit-body-0">
            <a:extLst>
              <a:ext uri="{FF2B5EF4-FFF2-40B4-BE49-F238E27FC236}">
                <a16:creationId xmlns:a16="http://schemas.microsoft.com/office/drawing/2014/main" id="{74A75EFE-3554-43D7-9D20-F0D5FACAAE20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3429000" cy="160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Wenn verschachtelte Dokumente das Kernmodell sind, sich Strukturen häufig ändern und Arrays direkt abgefragt werden.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80757AE-891E-4CFE-9CF5-F164F877B9F0}"/>
              </a:ext>
            </a:extLst>
          </p:cNvPr>
          <p:cNvSpPr>
            <a:spLocks noGrp="1"/>
          </p:cNvSpPr>
          <p:nvPr/>
        </p:nvSpPr>
        <p:spPr>
          <a:xfrm>
            <a:off x="4305300" y="1771650"/>
            <a:ext cx="34290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D6F145-7225-414C-9FB5-C0942042AF6E}"/>
              </a:ext>
            </a:extLst>
          </p:cNvPr>
          <p:cNvSpPr>
            <a:spLocks noGrp="1"/>
          </p:cNvSpPr>
          <p:nvPr/>
        </p:nvSpPr>
        <p:spPr>
          <a:xfrm>
            <a:off x="4305300" y="20097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t>OracleDB</a:t>
            </a:r>
          </a:p>
        </p:txBody>
      </p:sp>
      <p:sp>
        <p:nvSpPr>
          <p:cNvPr id="12" name="fit-tag-1">
            <a:extLst>
              <a:ext uri="{FF2B5EF4-FFF2-40B4-BE49-F238E27FC236}">
                <a16:creationId xmlns:a16="http://schemas.microsoft.com/office/drawing/2014/main" id="{B70FC31A-20DA-4854-85AD-C5D8578C3C1E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Enterprise-Hybrid</a:t>
            </a:r>
          </a:p>
        </p:txBody>
      </p:sp>
      <p:sp>
        <p:nvSpPr>
          <p:cNvPr id="13" name="fit-body-1">
            <a:extLst>
              <a:ext uri="{FF2B5EF4-FFF2-40B4-BE49-F238E27FC236}">
                <a16:creationId xmlns:a16="http://schemas.microsoft.com/office/drawing/2014/main" id="{C7AED947-A1EE-4BE5-BFAB-9DFCA7211BD7}"/>
              </a:ext>
            </a:extLst>
          </p:cNvPr>
          <p:cNvSpPr>
            <a:spLocks noGrp="1"/>
          </p:cNvSpPr>
          <p:nvPr/>
        </p:nvSpPr>
        <p:spPr>
          <a:xfrm>
            <a:off x="4305300" y="3562350"/>
            <a:ext cx="3429000" cy="160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Wenn relationale Integrität, SQL und Governance bestehen bleiben und JSON flexibel ergänzt oder per Duality bereitgestellt wird.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281B3C9-CB67-4107-9038-FC8F6F69AFC8}"/>
              </a:ext>
            </a:extLst>
          </p:cNvPr>
          <p:cNvSpPr>
            <a:spLocks noGrp="1"/>
          </p:cNvSpPr>
          <p:nvPr/>
        </p:nvSpPr>
        <p:spPr>
          <a:xfrm>
            <a:off x="8210550" y="1771650"/>
            <a:ext cx="3429000" cy="76200"/>
          </a:xfrm>
          <a:prstGeom prst="rect">
            <a:avLst/>
          </a:prstGeom>
          <a:solidFill>
            <a:srgbClr val="00758F"/>
          </a:solidFill>
          <a:ln w="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EDDB40A-1700-44EC-95CF-0874B7AA9729}"/>
              </a:ext>
            </a:extLst>
          </p:cNvPr>
          <p:cNvSpPr>
            <a:spLocks noGrp="1"/>
          </p:cNvSpPr>
          <p:nvPr/>
        </p:nvSpPr>
        <p:spPr>
          <a:xfrm>
            <a:off x="8210550" y="20097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758F"/>
                </a:solidFill>
                <a:latin typeface="Helvetica Neue"/>
                <a:ea typeface="Helvetica Neue"/>
                <a:cs typeface="Helvetica Neue"/>
              </a:defRPr>
            </a:pPr>
            <a:r>
              <a:t>MySQL</a:t>
            </a:r>
          </a:p>
        </p:txBody>
      </p:sp>
      <p:sp>
        <p:nvSpPr>
          <p:cNvPr id="16" name="fit-tag-2">
            <a:extLst>
              <a:ext uri="{FF2B5EF4-FFF2-40B4-BE49-F238E27FC236}">
                <a16:creationId xmlns:a16="http://schemas.microsoft.com/office/drawing/2014/main" id="{3E7588FB-C213-4686-B38C-CA87E2294340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Relational mit JSON</a:t>
            </a:r>
          </a:p>
        </p:txBody>
      </p:sp>
      <p:sp>
        <p:nvSpPr>
          <p:cNvPr id="17" name="fit-body-2">
            <a:extLst>
              <a:ext uri="{FF2B5EF4-FFF2-40B4-BE49-F238E27FC236}">
                <a16:creationId xmlns:a16="http://schemas.microsoft.com/office/drawing/2014/main" id="{E266F78D-9E86-4C8E-978E-0AF553A8795C}"/>
              </a:ext>
            </a:extLst>
          </p:cNvPr>
          <p:cNvSpPr>
            <a:spLocks noGrp="1"/>
          </p:cNvSpPr>
          <p:nvPr/>
        </p:nvSpPr>
        <p:spPr>
          <a:xfrm>
            <a:off x="8210550" y="3562350"/>
            <a:ext cx="3429000" cy="160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Wenn eine relationale Webanwendung einzelne flexible Attribute oder Dokumentbereiche ohne separates System benötigt.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ADE48D3-2EB2-4249-8ED3-1C81DA85C395}"/>
              </a:ext>
            </a:extLst>
          </p:cNvPr>
          <p:cNvSpPr>
            <a:spLocks noGrp="1"/>
          </p:cNvSpPr>
          <p:nvPr/>
        </p:nvSpPr>
        <p:spPr>
          <a:xfrm>
            <a:off x="400050" y="5514975"/>
            <a:ext cx="11391900" cy="62865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B784570-F9A6-4413-A830-DA179790D263}"/>
              </a:ext>
            </a:extLst>
          </p:cNvPr>
          <p:cNvSpPr>
            <a:spLocks noGrp="1"/>
          </p:cNvSpPr>
          <p:nvPr/>
        </p:nvSpPr>
        <p:spPr>
          <a:xfrm>
            <a:off x="628650" y="5638800"/>
            <a:ext cx="10934700" cy="400050"/>
          </a:xfrm>
          <a:prstGeom prst="rect">
            <a:avLst/>
          </a:prstGeom>
        </p:spPr>
        <p:txBody>
          <a:bodyPr wrap="square" lIns="0" tIns="0" rIns="0" bIns="0" anchor="ctr">
            <a:normAutofit fontScale="87498"/>
          </a:bodyPr>
          <a:lstStyle/>
          <a:p>
            <a:pPr algn="l"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Kein System gewinnt allgemein: Datenmodell, Zugriffspfade, Integrationsbedarf und Betriebsanforderungen bestimmen die Wahl.</a:t>
            </a:r>
          </a:p>
        </p:txBody>
      </p:sp>
    </p:spTree>
    <p:extLst>
      <p:ext uri="{BB962C8B-B14F-4D97-AF65-F5344CB8AC3E}">
        <p14:creationId xmlns:p14="http://schemas.microsoft.com/office/powerpoint/2010/main" val="1519416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-12">
            <a:extLst>
              <a:ext uri="{FF2B5EF4-FFF2-40B4-BE49-F238E27FC236}">
                <a16:creationId xmlns:a16="http://schemas.microsoft.com/office/drawing/2014/main" id="{97C7963E-6EB1-4BE8-9A95-1095598AC56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3784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LIVE-DEMO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CF074F7B-0E9D-48F6-9FB7-911B22BA5A9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3919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Praxisteil</a:t>
            </a:r>
          </a:p>
        </p:txBody>
      </p:sp>
      <p:sp>
        <p:nvSpPr>
          <p:cNvPr id="3" name="accent-12">
            <a:extLst>
              <a:ext uri="{FF2B5EF4-FFF2-40B4-BE49-F238E27FC236}">
                <a16:creationId xmlns:a16="http://schemas.microsoft.com/office/drawing/2014/main" id="{A3B01EE3-8AEE-4FCC-87E2-73CBC20F96C4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12">
            <a:extLst>
              <a:ext uri="{FF2B5EF4-FFF2-40B4-BE49-F238E27FC236}">
                <a16:creationId xmlns:a16="http://schemas.microsoft.com/office/drawing/2014/main" id="{1684E947-1935-43C1-8C08-7A1632C76CA6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Benchmark-Skript, Aufruf für den Basic-Indexmodus</a:t>
            </a:r>
          </a:p>
        </p:txBody>
      </p:sp>
      <p:sp>
        <p:nvSpPr>
          <p:cNvPr id="5" name="page-12">
            <a:extLst>
              <a:ext uri="{FF2B5EF4-FFF2-40B4-BE49-F238E27FC236}">
                <a16:creationId xmlns:a16="http://schemas.microsoft.com/office/drawing/2014/main" id="{D16CF36C-2B43-4CC6-989C-751B69A48AB0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6" name="demo-headline">
            <a:extLst>
              <a:ext uri="{FF2B5EF4-FFF2-40B4-BE49-F238E27FC236}">
                <a16:creationId xmlns:a16="http://schemas.microsoft.com/office/drawing/2014/main" id="{73214882-CC68-424F-BA6C-C16C5A9F5B24}"/>
              </a:ext>
            </a:extLst>
          </p:cNvPr>
          <p:cNvSpPr>
            <a:spLocks noGrp="1"/>
          </p:cNvSpPr>
          <p:nvPr/>
        </p:nvSpPr>
        <p:spPr>
          <a:xfrm>
            <a:off x="400050" y="1847850"/>
            <a:ext cx="83820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 live ausführen</a:t>
            </a:r>
          </a:p>
        </p:txBody>
      </p:sp>
      <p:sp>
        <p:nvSpPr>
          <p:cNvPr id="7" name="demo-command-backing">
            <a:extLst>
              <a:ext uri="{FF2B5EF4-FFF2-40B4-BE49-F238E27FC236}">
                <a16:creationId xmlns:a16="http://schemas.microsoft.com/office/drawing/2014/main" id="{C9D72B69-9445-4935-8D86-59DE4BE906E9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11391900" cy="1028700"/>
          </a:xfrm>
          <a:prstGeom prst="rect">
            <a:avLst/>
          </a:prstGeom>
          <a:solidFill>
            <a:srgbClr val="111317"/>
          </a:solidFill>
          <a:ln w="9525">
            <a:solidFill>
              <a:srgbClr val="3034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demo-command">
            <a:extLst>
              <a:ext uri="{FF2B5EF4-FFF2-40B4-BE49-F238E27FC236}">
                <a16:creationId xmlns:a16="http://schemas.microsoft.com/office/drawing/2014/main" id="{A4817E00-3AA3-4419-9CA7-86D58E147C91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109347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python benchmark.py --rows 10000 --runs 10 --warmups 2 --index-mode basic | tee logs/benchmark_10000_basic.log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D1632A-5AF8-4EB2-8064-26796A5C57EB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209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Erzeugung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BE0E74E-890D-42DC-8C8F-FBE4B843E765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29527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10.000 identische Testdokumente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BB7672-7158-40F6-9189-5D9C60877967}"/>
              </a:ext>
            </a:extLst>
          </p:cNvPr>
          <p:cNvSpPr>
            <a:spLocks noGrp="1"/>
          </p:cNvSpPr>
          <p:nvPr/>
        </p:nvSpPr>
        <p:spPr>
          <a:xfrm>
            <a:off x="4305300" y="4552950"/>
            <a:ext cx="209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Messung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3E147A7-508D-470B-89C0-63D11A2264DF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31432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2 Warm-ups, danach 10 gewertete Läufe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99B58F3-75AC-4796-AE51-58A26AEDE0B4}"/>
              </a:ext>
            </a:extLst>
          </p:cNvPr>
          <p:cNvSpPr>
            <a:spLocks noGrp="1"/>
          </p:cNvSpPr>
          <p:nvPr/>
        </p:nvSpPr>
        <p:spPr>
          <a:xfrm>
            <a:off x="8210550" y="4552950"/>
            <a:ext cx="209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Ausgabe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A152E73-01EE-468B-97E4-F84A153D7CA9}"/>
              </a:ext>
            </a:extLst>
          </p:cNvPr>
          <p:cNvSpPr>
            <a:spLocks noGrp="1"/>
          </p:cNvSpPr>
          <p:nvPr/>
        </p:nvSpPr>
        <p:spPr>
          <a:xfrm>
            <a:off x="8210550" y="5010150"/>
            <a:ext cx="31432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Konsole, CSV und Diagramm</a:t>
            </a:r>
          </a:p>
        </p:txBody>
      </p:sp>
    </p:spTree>
    <p:extLst>
      <p:ext uri="{BB962C8B-B14F-4D97-AF65-F5344CB8AC3E}">
        <p14:creationId xmlns:p14="http://schemas.microsoft.com/office/powerpoint/2010/main" val="110696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13">
            <a:extLst>
              <a:ext uri="{FF2B5EF4-FFF2-40B4-BE49-F238E27FC236}">
                <a16:creationId xmlns:a16="http://schemas.microsoft.com/office/drawing/2014/main" id="{D2598A4F-5624-43C3-9C9F-F4FA10C630C6}"/>
              </a:ext>
            </a:extLst>
          </p:cNvPr>
          <p:cNvSpPr>
            <a:spLocks noGrp="1"/>
          </p:cNvSpPr>
          <p:nvPr/>
        </p:nvSpPr>
        <p:spPr>
          <a:xfrm>
            <a:off x="400049" y="266699"/>
            <a:ext cx="4445219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EINORDNUNG UND GRENZEN</a:t>
            </a:r>
          </a:p>
        </p:txBody>
      </p:sp>
      <p:sp>
        <p:nvSpPr>
          <p:cNvPr id="3" name="accent-13">
            <a:extLst>
              <a:ext uri="{FF2B5EF4-FFF2-40B4-BE49-F238E27FC236}">
                <a16:creationId xmlns:a16="http://schemas.microsoft.com/office/drawing/2014/main" id="{A9D27DFA-9094-4CF6-AD48-B3EB54A013EB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13">
            <a:extLst>
              <a:ext uri="{FF2B5EF4-FFF2-40B4-BE49-F238E27FC236}">
                <a16:creationId xmlns:a16="http://schemas.microsoft.com/office/drawing/2014/main" id="{36F13B90-DE1D-4D74-8AC1-513748AA1332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kritische Einordnung von Benchmark-Skript und Messmethodik</a:t>
            </a:r>
          </a:p>
        </p:txBody>
      </p:sp>
      <p:sp>
        <p:nvSpPr>
          <p:cNvPr id="5" name="page-13">
            <a:extLst>
              <a:ext uri="{FF2B5EF4-FFF2-40B4-BE49-F238E27FC236}">
                <a16:creationId xmlns:a16="http://schemas.microsoft.com/office/drawing/2014/main" id="{5EF7B539-17C7-49C9-9FF7-9FC6C4113AE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1F4FC79-762C-448D-BBE6-61AEA96055E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5334000" cy="171450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2913066-8531-4E22-BBBF-0EF4EC768B96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2190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Testumfang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00315C1-E941-4037-8024-DE234055B256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762500" cy="704850"/>
          </a:xfrm>
          <a:prstGeom prst="rect">
            <a:avLst/>
          </a:prstGeom>
        </p:spPr>
        <p:txBody>
          <a:bodyPr wrap="square" lIns="0" tIns="0" rIns="0" bIns="0" anchor="t">
            <a:normAutofit fontScale="93434"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10.000 Dokumente, eine Maschine, sequenzieller Zugriff; keine Parallelität, Skalierung oder getrennte Kaltstartmessung.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F11992A-73A4-4F31-8E57-4E998D9C2471}"/>
              </a:ext>
            </a:extLst>
          </p:cNvPr>
          <p:cNvSpPr>
            <a:spLocks noGrp="1"/>
          </p:cNvSpPr>
          <p:nvPr/>
        </p:nvSpPr>
        <p:spPr>
          <a:xfrm>
            <a:off x="6457950" y="1809750"/>
            <a:ext cx="5334000" cy="171450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73B2590-F4AA-46B6-9236-B38096851A85}"/>
              </a:ext>
            </a:extLst>
          </p:cNvPr>
          <p:cNvSpPr>
            <a:spLocks noGrp="1"/>
          </p:cNvSpPr>
          <p:nvPr/>
        </p:nvSpPr>
        <p:spPr>
          <a:xfrm>
            <a:off x="6705600" y="2047875"/>
            <a:ext cx="2476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Gemessene Arbeit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46ED96A-D255-439D-94F1-7D2AC840502A}"/>
              </a:ext>
            </a:extLst>
          </p:cNvPr>
          <p:cNvSpPr>
            <a:spLocks noGrp="1"/>
          </p:cNvSpPr>
          <p:nvPr/>
        </p:nvSpPr>
        <p:spPr>
          <a:xfrm>
            <a:off x="6705600" y="2619375"/>
            <a:ext cx="4762500" cy="704850"/>
          </a:xfrm>
          <a:prstGeom prst="rect">
            <a:avLst/>
          </a:prstGeom>
        </p:spPr>
        <p:txBody>
          <a:bodyPr wrap="square" lIns="0" tIns="0" rIns="0" bIns="0" anchor="t">
            <a:normAutofit fontScale="93434"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Selektionen zaehlen Treffer, laden aber keine vollstaendigen Dokumente. Das Update umfasst Reset, Zielupdate und zwei Commits.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6FA8865-75A0-42EA-8304-C3388C401172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5334000" cy="171450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02F4283-029F-487F-8963-F25247C299A4}"/>
              </a:ext>
            </a:extLst>
          </p:cNvPr>
          <p:cNvSpPr>
            <a:spLocks noGrp="1"/>
          </p:cNvSpPr>
          <p:nvPr/>
        </p:nvSpPr>
        <p:spPr>
          <a:xfrm>
            <a:off x="647700" y="4048125"/>
            <a:ext cx="2476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Insert-Vergleich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3BF195F-7948-4548-BE0F-D0958F28978A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4762500" cy="704850"/>
          </a:xfrm>
          <a:prstGeom prst="rect">
            <a:avLst/>
          </a:prstGeom>
        </p:spPr>
        <p:txBody>
          <a:bodyPr wrap="square" lIns="0" tIns="0" rIns="0" bIns="0" anchor="t">
            <a:normAutofit fontScale="93434"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MongoDB misst Collection-Drop und Indexanlage im Basic-Insert mit; OracleDB und MySQL erstellen die Indexe vorher.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FEC2D1D-33B1-4FA2-9996-BF4FA4CEEC94}"/>
              </a:ext>
            </a:extLst>
          </p:cNvPr>
          <p:cNvSpPr>
            <a:spLocks noGrp="1"/>
          </p:cNvSpPr>
          <p:nvPr/>
        </p:nvSpPr>
        <p:spPr>
          <a:xfrm>
            <a:off x="6457950" y="3810000"/>
            <a:ext cx="5334000" cy="171450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F35A2AE-CC7B-4678-8672-2A2136C6CA71}"/>
              </a:ext>
            </a:extLst>
          </p:cNvPr>
          <p:cNvSpPr>
            <a:spLocks noGrp="1"/>
          </p:cNvSpPr>
          <p:nvPr/>
        </p:nvSpPr>
        <p:spPr>
          <a:xfrm>
            <a:off x="6705600" y="4048125"/>
            <a:ext cx="2476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Indexnutzung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4C34017-453A-4665-90AC-4A0051DC5BFA}"/>
              </a:ext>
            </a:extLst>
          </p:cNvPr>
          <p:cNvSpPr>
            <a:spLocks noGrp="1"/>
          </p:cNvSpPr>
          <p:nvPr/>
        </p:nvSpPr>
        <p:spPr>
          <a:xfrm>
            <a:off x="6705600" y="4619625"/>
            <a:ext cx="4762500" cy="704850"/>
          </a:xfrm>
          <a:prstGeom prst="rect">
            <a:avLst/>
          </a:prstGeom>
        </p:spPr>
        <p:txBody>
          <a:bodyPr wrap="square" lIns="0" tIns="0" rIns="0" bIns="0" anchor="t">
            <a:normAutofit fontScale="93434"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Die Indexe existierten, ihre konkrete Nutzung wurde jedoch nicht mit EXPLAIN, executionStats oder DBMS_XPLAN belegt.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5673275-4EED-4A51-93E2-88808741AE5C}"/>
              </a:ext>
            </a:extLst>
          </p:cNvPr>
          <p:cNvSpPr>
            <a:spLocks noGrp="1"/>
          </p:cNvSpPr>
          <p:nvPr/>
        </p:nvSpPr>
        <p:spPr>
          <a:xfrm>
            <a:off x="400050" y="5724525"/>
            <a:ext cx="11391900" cy="4191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BFE4BD8-DA38-4082-A93F-A698AC0BA133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1010900" cy="238125"/>
          </a:xfrm>
          <a:prstGeom prst="rect">
            <a:avLst/>
          </a:prstGeom>
        </p:spPr>
        <p:txBody>
          <a:bodyPr wrap="square" lIns="0" tIns="0" rIns="0" bIns="0" anchor="ctr">
            <a:normAutofit fontScale="99206" lnSpcReduction="10000"/>
          </a:bodyPr>
          <a:lstStyle/>
          <a:p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Folgerung: Die Ergebnisse zeigen Tendenzen für das Testszenario, keine universelle Rangliste.</a:t>
            </a:r>
          </a:p>
        </p:txBody>
      </p:sp>
    </p:spTree>
    <p:extLst>
      <p:ext uri="{BB962C8B-B14F-4D97-AF65-F5344CB8AC3E}">
        <p14:creationId xmlns:p14="http://schemas.microsoft.com/office/powerpoint/2010/main" val="334544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se-kicker">
            <a:extLst>
              <a:ext uri="{FF2B5EF4-FFF2-40B4-BE49-F238E27FC236}">
                <a16:creationId xmlns:a16="http://schemas.microsoft.com/office/drawing/2014/main" id="{567F1CEC-79ED-4B20-BF25-D079EAB76465}"/>
              </a:ext>
            </a:extLst>
          </p:cNvPr>
          <p:cNvSpPr>
            <a:spLocks noGrp="1"/>
          </p:cNvSpPr>
          <p:nvPr/>
        </p:nvSpPr>
        <p:spPr>
          <a:xfrm>
            <a:off x="400050" y="400049"/>
            <a:ext cx="6305550" cy="981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/>
              <a:t>ZUSAMMENFASSUNG &amp; AUSBLICK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63D375C5-CC34-4ED4-A0AB-96DBC89B2E9D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10001250" cy="1809750"/>
          </a:xfrm>
          <a:prstGeom prst="rect">
            <a:avLst/>
          </a:prstGeom>
        </p:spPr>
        <p:txBody>
          <a:bodyPr wrap="square" lIns="0" tIns="0" rIns="0" bIns="0" anchor="b">
            <a:normAutofit fontScale="85464"/>
          </a:bodyPr>
          <a:lstStyle/>
          <a:p>
            <a:pPr algn="l">
              <a:buNone/>
              <a:defRPr sz="4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JSON </a:t>
            </a:r>
            <a:r>
              <a:rPr dirty="0" err="1"/>
              <a:t>ersetzt</a:t>
            </a:r>
            <a:r>
              <a:rPr dirty="0"/>
              <a:t> das </a:t>
            </a:r>
            <a:r>
              <a:rPr dirty="0" err="1"/>
              <a:t>relationale</a:t>
            </a:r>
            <a:r>
              <a:rPr dirty="0"/>
              <a:t> Modell nicht.
Es </a:t>
            </a:r>
            <a:r>
              <a:rPr dirty="0" err="1"/>
              <a:t>erweitert</a:t>
            </a:r>
            <a:r>
              <a:rPr dirty="0"/>
              <a:t> es.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6735E42-7DF1-46D7-BE31-40BA89F5FD07}"/>
              </a:ext>
            </a:extLst>
          </p:cNvPr>
          <p:cNvSpPr>
            <a:spLocks noGrp="1"/>
          </p:cNvSpPr>
          <p:nvPr/>
        </p:nvSpPr>
        <p:spPr>
          <a:xfrm>
            <a:off x="400050" y="3762375"/>
            <a:ext cx="76200" cy="17145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close-copy">
            <a:extLst>
              <a:ext uri="{FF2B5EF4-FFF2-40B4-BE49-F238E27FC236}">
                <a16:creationId xmlns:a16="http://schemas.microsoft.com/office/drawing/2014/main" id="{05675E3B-CEDF-44A7-A952-36D79806CA6A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78105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MongoDB behandelt Dokumente als Kernmodell und war ohne Zusatzindizes im Test am schnellsten.
Gezielte skalare Indexierung lässt OracleDB und MySQL deutlich aufholen.
Die Systemwahl beginnt bei Datenmodell und Zugriffspfaden.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9D4A2A-E4C5-4D68-9824-19084E2CA410}"/>
              </a:ext>
            </a:extLst>
          </p:cNvPr>
          <p:cNvSpPr>
            <a:spLocks noGrp="1"/>
          </p:cNvSpPr>
          <p:nvPr/>
        </p:nvSpPr>
        <p:spPr>
          <a:xfrm>
            <a:off x="9029700" y="3857625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Ausblick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2ED0D55-E5AC-4871-AE27-99C716C564A7}"/>
              </a:ext>
            </a:extLst>
          </p:cNvPr>
          <p:cNvSpPr>
            <a:spLocks noGrp="1"/>
          </p:cNvSpPr>
          <p:nvPr/>
        </p:nvSpPr>
        <p:spPr>
          <a:xfrm>
            <a:off x="9029700" y="4438650"/>
            <a:ext cx="25717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Ausführungsplaene
faire Insert-Messung
mehr Daten &amp; Parallelität</a:t>
            </a:r>
          </a:p>
        </p:txBody>
      </p:sp>
      <p:sp>
        <p:nvSpPr>
          <p:cNvPr id="7" name="questions">
            <a:extLst>
              <a:ext uri="{FF2B5EF4-FFF2-40B4-BE49-F238E27FC236}">
                <a16:creationId xmlns:a16="http://schemas.microsoft.com/office/drawing/2014/main" id="{168C6C98-A335-4A84-A369-2F60B0D3EA8F}"/>
              </a:ext>
            </a:extLst>
          </p:cNvPr>
          <p:cNvSpPr>
            <a:spLocks noGrp="1"/>
          </p:cNvSpPr>
          <p:nvPr/>
        </p:nvSpPr>
        <p:spPr>
          <a:xfrm>
            <a:off x="10306050" y="5953125"/>
            <a:ext cx="14859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Fragen</a:t>
            </a:r>
          </a:p>
        </p:txBody>
      </p:sp>
    </p:spTree>
    <p:extLst>
      <p:ext uri="{BB962C8B-B14F-4D97-AF65-F5344CB8AC3E}">
        <p14:creationId xmlns:p14="http://schemas.microsoft.com/office/powerpoint/2010/main" val="302791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15">
            <a:extLst>
              <a:ext uri="{FF2B5EF4-FFF2-40B4-BE49-F238E27FC236}">
                <a16:creationId xmlns:a16="http://schemas.microsoft.com/office/drawing/2014/main" id="{F19AE8EB-D390-44F9-8AC0-1176F40D1B0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476500" cy="228600"/>
          </a:xfrm>
          <a:prstGeom prst="rect">
            <a:avLst/>
          </a:prstGeom>
        </p:spPr>
        <p:txBody>
          <a:bodyPr wrap="square" lIns="0" tIns="0" rIns="0" bIns="0" anchor="t">
            <a:normAutofit fontScale="93166"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BACKUP: INDEXIMPLEMENTIERUNG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B290F158-5A5E-49FF-B898-15FDBD962CC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3919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 werden die Basic-Indizes im Skript angelegt</a:t>
            </a:r>
          </a:p>
        </p:txBody>
      </p:sp>
      <p:sp>
        <p:nvSpPr>
          <p:cNvPr id="3" name="accent-15">
            <a:extLst>
              <a:ext uri="{FF2B5EF4-FFF2-40B4-BE49-F238E27FC236}">
                <a16:creationId xmlns:a16="http://schemas.microsoft.com/office/drawing/2014/main" id="{D551C4E0-50CF-4578-9737-C4BFDCCEAD19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15">
            <a:extLst>
              <a:ext uri="{FF2B5EF4-FFF2-40B4-BE49-F238E27FC236}">
                <a16:creationId xmlns:a16="http://schemas.microsoft.com/office/drawing/2014/main" id="{A0ED7610-A343-47DB-858C-FEBF413659D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benchmark.py aus dem Studienarbeitsprojekt</a:t>
            </a:r>
          </a:p>
        </p:txBody>
      </p:sp>
      <p:sp>
        <p:nvSpPr>
          <p:cNvPr id="5" name="page-15">
            <a:extLst>
              <a:ext uri="{FF2B5EF4-FFF2-40B4-BE49-F238E27FC236}">
                <a16:creationId xmlns:a16="http://schemas.microsoft.com/office/drawing/2014/main" id="{189AC977-903F-45B2-AAA0-3D219E4F47A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8B93BFB-6A2B-4445-AA87-5216930A5F00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3429000" cy="76200"/>
          </a:xfrm>
          <a:prstGeom prst="rect">
            <a:avLst/>
          </a:prstGeom>
          <a:solidFill>
            <a:srgbClr val="00A35C"/>
          </a:solidFill>
          <a:ln w="0">
            <a:solidFill>
              <a:srgbClr val="00A3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2C45A2B-D418-41F8-99FD-AA1A8F13F67F}"/>
              </a:ext>
            </a:extLst>
          </p:cNvPr>
          <p:cNvSpPr>
            <a:spLocks noGrp="1"/>
          </p:cNvSpPr>
          <p:nvPr/>
        </p:nvSpPr>
        <p:spPr>
          <a:xfrm>
            <a:off x="400050" y="19335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A35C"/>
                </a:solidFill>
                <a:latin typeface="Helvetica Neue"/>
                <a:ea typeface="Helvetica Neue"/>
                <a:cs typeface="Helvetica Neue"/>
              </a:defRPr>
            </a:pPr>
            <a:r>
              <a:t>MongoDB</a:t>
            </a:r>
          </a:p>
        </p:txBody>
      </p:sp>
      <p:sp>
        <p:nvSpPr>
          <p:cNvPr id="8" name="backup-mongo-code-backing">
            <a:extLst>
              <a:ext uri="{FF2B5EF4-FFF2-40B4-BE49-F238E27FC236}">
                <a16:creationId xmlns:a16="http://schemas.microsoft.com/office/drawing/2014/main" id="{094C3019-6C3D-44F6-B101-B3C6B901CAD5}"/>
              </a:ext>
            </a:extLst>
          </p:cNvPr>
          <p:cNvSpPr>
            <a:spLocks noGrp="1"/>
          </p:cNvSpPr>
          <p:nvPr/>
        </p:nvSpPr>
        <p:spPr>
          <a:xfrm>
            <a:off x="400050" y="2590800"/>
            <a:ext cx="3429000" cy="2381250"/>
          </a:xfrm>
          <a:prstGeom prst="rect">
            <a:avLst/>
          </a:prstGeom>
          <a:solidFill>
            <a:srgbClr val="111317"/>
          </a:solidFill>
          <a:ln w="9525">
            <a:solidFill>
              <a:srgbClr val="3034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backup-mongo-code">
            <a:extLst>
              <a:ext uri="{FF2B5EF4-FFF2-40B4-BE49-F238E27FC236}">
                <a16:creationId xmlns:a16="http://schemas.microsoft.com/office/drawing/2014/main" id="{51E3AE09-1F04-488B-BF8C-D8FDA1DC60FC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2971800" cy="2000250"/>
          </a:xfrm>
          <a:prstGeom prst="rect">
            <a:avLst/>
          </a:prstGeom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buNone/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c.create_index("status")
c.create_index("kunde.land")
c.create_index("bestellnummer")
c.create_index(
  "positionen.artikelnummer"
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0955D57-EA3E-424A-B075-C07D0D7F0CAF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3429000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Direkt, aufsteigend, nicht eindeutig; Array-Pfad wird Multikey.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41FC8AB-4A08-4C77-A5F1-F55F1B85763C}"/>
              </a:ext>
            </a:extLst>
          </p:cNvPr>
          <p:cNvSpPr>
            <a:spLocks noGrp="1"/>
          </p:cNvSpPr>
          <p:nvPr/>
        </p:nvSpPr>
        <p:spPr>
          <a:xfrm>
            <a:off x="4305300" y="1695450"/>
            <a:ext cx="3429000" cy="76200"/>
          </a:xfrm>
          <a:prstGeom prst="rect">
            <a:avLst/>
          </a:prstGeom>
          <a:solidFill>
            <a:srgbClr val="00758F"/>
          </a:solidFill>
          <a:ln w="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606CDDA-CF56-492B-B75E-5CFE7BD92262}"/>
              </a:ext>
            </a:extLst>
          </p:cNvPr>
          <p:cNvSpPr>
            <a:spLocks noGrp="1"/>
          </p:cNvSpPr>
          <p:nvPr/>
        </p:nvSpPr>
        <p:spPr>
          <a:xfrm>
            <a:off x="4305300" y="19335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00758F"/>
                </a:solidFill>
                <a:latin typeface="Helvetica Neue"/>
                <a:ea typeface="Helvetica Neue"/>
                <a:cs typeface="Helvetica Neue"/>
              </a:defRPr>
            </a:pPr>
            <a:r>
              <a:t>MySQL</a:t>
            </a:r>
          </a:p>
        </p:txBody>
      </p:sp>
      <p:sp>
        <p:nvSpPr>
          <p:cNvPr id="13" name="backup-mysql-code-backing">
            <a:extLst>
              <a:ext uri="{FF2B5EF4-FFF2-40B4-BE49-F238E27FC236}">
                <a16:creationId xmlns:a16="http://schemas.microsoft.com/office/drawing/2014/main" id="{945C037F-EA5B-45FF-8B70-BDBB26ECF7D4}"/>
              </a:ext>
            </a:extLst>
          </p:cNvPr>
          <p:cNvSpPr>
            <a:spLocks noGrp="1"/>
          </p:cNvSpPr>
          <p:nvPr/>
        </p:nvSpPr>
        <p:spPr>
          <a:xfrm>
            <a:off x="4305300" y="2590800"/>
            <a:ext cx="3429000" cy="2381250"/>
          </a:xfrm>
          <a:prstGeom prst="rect">
            <a:avLst/>
          </a:prstGeom>
          <a:solidFill>
            <a:srgbClr val="111317"/>
          </a:solidFill>
          <a:ln w="9525">
            <a:solidFill>
              <a:srgbClr val="3034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backup-mysql-code">
            <a:extLst>
              <a:ext uri="{FF2B5EF4-FFF2-40B4-BE49-F238E27FC236}">
                <a16:creationId xmlns:a16="http://schemas.microsoft.com/office/drawing/2014/main" id="{DBE9045D-412B-4A33-BB3D-32A83623D798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29718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status_gen VARCHAR(30)
 GENERATED ALWAYS AS (
  JSON_UNQUOTE(
   JSON_EXTRACT(
    daten, '$.status'))
 ) STORED,
INDEX idx_status(status_gen)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52853DF-C512-49A6-8CA0-A086ABAEACA6}"/>
              </a:ext>
            </a:extLst>
          </p:cNvPr>
          <p:cNvSpPr>
            <a:spLocks noGrp="1"/>
          </p:cNvSpPr>
          <p:nvPr/>
        </p:nvSpPr>
        <p:spPr>
          <a:xfrm>
            <a:off x="4305300" y="5219700"/>
            <a:ext cx="3429000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Analog für land und bestellnummer; kein Array-Index.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23AABAD-9D3B-4D7C-BB67-853FD6C72021}"/>
              </a:ext>
            </a:extLst>
          </p:cNvPr>
          <p:cNvSpPr>
            <a:spLocks noGrp="1"/>
          </p:cNvSpPr>
          <p:nvPr/>
        </p:nvSpPr>
        <p:spPr>
          <a:xfrm>
            <a:off x="8210550" y="1695450"/>
            <a:ext cx="34290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262B02C-200C-49A1-B926-6CA54438CE43}"/>
              </a:ext>
            </a:extLst>
          </p:cNvPr>
          <p:cNvSpPr>
            <a:spLocks noGrp="1"/>
          </p:cNvSpPr>
          <p:nvPr/>
        </p:nvSpPr>
        <p:spPr>
          <a:xfrm>
            <a:off x="8210550" y="1933575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>
                <a:solidFill>
                  <a:srgbClr val="C74634"/>
                </a:solidFill>
                <a:latin typeface="Helvetica Neue"/>
                <a:ea typeface="Helvetica Neue"/>
                <a:cs typeface="Helvetica Neue"/>
              </a:defRPr>
            </a:pPr>
            <a:r>
              <a:t>OracleDB</a:t>
            </a:r>
          </a:p>
        </p:txBody>
      </p:sp>
      <p:sp>
        <p:nvSpPr>
          <p:cNvPr id="18" name="backup-oracle-code-backing">
            <a:extLst>
              <a:ext uri="{FF2B5EF4-FFF2-40B4-BE49-F238E27FC236}">
                <a16:creationId xmlns:a16="http://schemas.microsoft.com/office/drawing/2014/main" id="{D9E68E3B-74F9-4D0E-853D-A8545FC9471B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3429000" cy="2381250"/>
          </a:xfrm>
          <a:prstGeom prst="rect">
            <a:avLst/>
          </a:prstGeom>
          <a:solidFill>
            <a:srgbClr val="111317"/>
          </a:solidFill>
          <a:ln w="9525">
            <a:solidFill>
              <a:srgbClr val="3034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backup-oracle-code">
            <a:extLst>
              <a:ext uri="{FF2B5EF4-FFF2-40B4-BE49-F238E27FC236}">
                <a16:creationId xmlns:a16="http://schemas.microsoft.com/office/drawing/2014/main" id="{1110CA68-D6E8-4FA4-993A-B0CA1950E609}"/>
              </a:ext>
            </a:extLst>
          </p:cNvPr>
          <p:cNvSpPr>
            <a:spLocks noGrp="1"/>
          </p:cNvSpPr>
          <p:nvPr/>
        </p:nvSpPr>
        <p:spPr>
          <a:xfrm>
            <a:off x="8439150" y="2781300"/>
            <a:ext cx="29718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t>CREATE INDEX idx_oracle_status
ON bestellungen_json (
 JSON_VALUE(
  daten, '$.status'
  RETURNING VARCHAR2(30)
 )
);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EB133CC-1A6A-462B-8D2D-58C539E2F915}"/>
              </a:ext>
            </a:extLst>
          </p:cNvPr>
          <p:cNvSpPr>
            <a:spLocks noGrp="1"/>
          </p:cNvSpPr>
          <p:nvPr/>
        </p:nvSpPr>
        <p:spPr>
          <a:xfrm>
            <a:off x="8210550" y="5219700"/>
            <a:ext cx="3429000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Analog für land und bestellnummer; kein Array-Index.</a:t>
            </a:r>
          </a:p>
        </p:txBody>
      </p:sp>
    </p:spTree>
    <p:extLst>
      <p:ext uri="{BB962C8B-B14F-4D97-AF65-F5344CB8AC3E}">
        <p14:creationId xmlns:p14="http://schemas.microsoft.com/office/powerpoint/2010/main" val="848654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-16">
            <a:extLst>
              <a:ext uri="{FF2B5EF4-FFF2-40B4-BE49-F238E27FC236}">
                <a16:creationId xmlns:a16="http://schemas.microsoft.com/office/drawing/2014/main" id="{9E8C9B1E-2B83-4061-97B2-609D220DBF9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476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BACKUP: MESSWERTE</a:t>
            </a:r>
          </a:p>
        </p:txBody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3C7A93F8-A6A3-40FD-A4D4-DDAA3273A9E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3919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Vollstaendige Durchschnittswerte des Benchmarks</a:t>
            </a:r>
          </a:p>
        </p:txBody>
      </p:sp>
      <p:sp>
        <p:nvSpPr>
          <p:cNvPr id="3" name="accent-16">
            <a:extLst>
              <a:ext uri="{FF2B5EF4-FFF2-40B4-BE49-F238E27FC236}">
                <a16:creationId xmlns:a16="http://schemas.microsoft.com/office/drawing/2014/main" id="{A6F93348-69BA-4D46-95EA-4E0F89C621A6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7048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ource-16">
            <a:extLst>
              <a:ext uri="{FF2B5EF4-FFF2-40B4-BE49-F238E27FC236}">
                <a16:creationId xmlns:a16="http://schemas.microsoft.com/office/drawing/2014/main" id="{2CFCDBE1-BA07-4DBF-A6CB-978AEB3709C4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>
                <a:solidFill>
                  <a:srgbClr val="50545B"/>
                </a:solidFill>
                <a:latin typeface="Helvetica Neue"/>
                <a:ea typeface="Helvetica Neue"/>
                <a:cs typeface="Helvetica Neue"/>
              </a:defRPr>
            </a:pPr>
            <a:r>
              <a:t>Quelle: Kalmbach (2026), Tab. 4 und 6; Angaben in ms</a:t>
            </a:r>
          </a:p>
        </p:txBody>
      </p:sp>
      <p:sp>
        <p:nvSpPr>
          <p:cNvPr id="5" name="page-16">
            <a:extLst>
              <a:ext uri="{FF2B5EF4-FFF2-40B4-BE49-F238E27FC236}">
                <a16:creationId xmlns:a16="http://schemas.microsoft.com/office/drawing/2014/main" id="{0DB9FC36-04CF-4191-B3CD-B33BAD292FAD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F97646-B4E6-4336-A00C-29F277309E0F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Ohne Zusatzindizes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316576E-C922-48BF-A8D9-D589A0ED4882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Basic-Indexierung</a:t>
            </a:r>
          </a:p>
        </p:txBody>
      </p:sp>
      <p:graphicFrame>
        <p:nvGraphicFramePr>
          <p:cNvPr id="20" name="Tabelle 19"/>
          <p:cNvGraphicFramePr/>
          <p:nvPr/>
        </p:nvGraphicFramePr>
        <p:xfrm>
          <a:off x="400050" y="2190750"/>
          <a:ext cx="5334000" cy="33718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Oracle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Mongo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MySQL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788,87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Top-Level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3,62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2,91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Verschachtelt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Array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9,07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2,79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20,63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elle 20"/>
          <p:cNvGraphicFramePr/>
          <p:nvPr/>
        </p:nvGraphicFramePr>
        <p:xfrm>
          <a:off x="6457950" y="2190750"/>
          <a:ext cx="5334000" cy="33718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Oracle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Mongo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MySQL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1240,71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148,82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290,16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Top-Level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0,46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0,98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Verschachtelt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Array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9,34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20,53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9936EAB1-3844-4E7A-9E79-F2FF5C9F00E4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391900" cy="3238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 lIns="133350" tIns="0" rIns="133350" bIns="0" anchor="ctr"/>
          <a:lstStyle/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Niedriger ist besser. Werte sind Mittelwerte aus zehn gewerteten Läufen nach zwei Warm-ups.</a:t>
            </a:r>
          </a:p>
        </p:txBody>
      </p:sp>
    </p:spTree>
    <p:extLst>
      <p:ext uri="{BB962C8B-B14F-4D97-AF65-F5344CB8AC3E}">
        <p14:creationId xmlns:p14="http://schemas.microsoft.com/office/powerpoint/2010/main" val="14184053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2544</Words>
  <Application>Microsoft Office PowerPoint</Application>
  <DocSecurity>0</DocSecurity>
  <PresentationFormat>Breitbild</PresentationFormat>
  <Paragraphs>321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 Narrow</vt:lpstr>
      <vt:lpstr>Arial Unicode MS</vt:lpstr>
      <vt:lpstr>Calibri</vt:lpstr>
      <vt:lpstr>Helvetica Neue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Kalmbach, Jonathan</cp:lastModifiedBy>
  <cp:revision>2</cp:revision>
  <dcterms:created xsi:type="dcterms:W3CDTF">2026-07-20T11:56:14Z</dcterms:created>
  <dcterms:modified xsi:type="dcterms:W3CDTF">2026-07-21T14:40:10Z</dcterms:modified>
</cp:coreProperties>
</file>